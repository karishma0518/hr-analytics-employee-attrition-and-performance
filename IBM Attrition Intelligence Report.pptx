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Inter" panose="020B0604020202020204" charset="0"/>
      <p:regular r:id="rId18"/>
    </p:embeddedFont>
    <p:embeddedFont>
      <p:font typeface="Inter Bold" panose="020B0604020202020204" charset="0"/>
      <p:regular r:id="rId19"/>
    </p:embeddedFont>
    <p:embeddedFont>
      <p:font typeface="Lilita One" panose="020B0604020202020204" charset="0"/>
      <p:regular r:id="rId20"/>
    </p:embeddedFont>
    <p:embeddedFont>
      <p:font typeface="Poppins" panose="00000500000000000000" pitchFamily="2" charset="0"/>
      <p:regular r:id="rId21"/>
    </p:embeddedFont>
    <p:embeddedFont>
      <p:font typeface="Poppins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7" d="100"/>
          <a:sy n="37" d="100"/>
        </p:scale>
        <p:origin x="1060" y="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jpe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6.svg"/><Relationship Id="rId4" Type="http://schemas.openxmlformats.org/officeDocument/2006/relationships/image" Target="../media/image17.jpe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jpe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4.svg"/><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6.svg"/><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22.svg"/><Relationship Id="rId4" Type="http://schemas.openxmlformats.org/officeDocument/2006/relationships/image" Target="../media/image27.sv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6.svg"/><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grpSp>
        <p:nvGrpSpPr>
          <p:cNvPr id="2" name="Group 2"/>
          <p:cNvGrpSpPr/>
          <p:nvPr/>
        </p:nvGrpSpPr>
        <p:grpSpPr>
          <a:xfrm>
            <a:off x="-1134441" y="0"/>
            <a:ext cx="20556882" cy="10287000"/>
            <a:chOff x="0" y="0"/>
            <a:chExt cx="27409176"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3693176"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a:off x="1034369" y="6479691"/>
            <a:ext cx="10645541" cy="2420387"/>
            <a:chOff x="0" y="0"/>
            <a:chExt cx="2803764" cy="546534"/>
          </a:xfrm>
        </p:grpSpPr>
        <p:sp>
          <p:nvSpPr>
            <p:cNvPr id="6" name="Freeform 6"/>
            <p:cNvSpPr/>
            <p:nvPr/>
          </p:nvSpPr>
          <p:spPr>
            <a:xfrm>
              <a:off x="0" y="0"/>
              <a:ext cx="2803764" cy="546534"/>
            </a:xfrm>
            <a:custGeom>
              <a:avLst/>
              <a:gdLst/>
              <a:ahLst/>
              <a:cxnLst/>
              <a:rect l="l" t="t" r="r" b="b"/>
              <a:pathLst>
                <a:path w="2803764" h="546534">
                  <a:moveTo>
                    <a:pt x="72725" y="0"/>
                  </a:moveTo>
                  <a:lnTo>
                    <a:pt x="2731039" y="0"/>
                  </a:lnTo>
                  <a:cubicBezTo>
                    <a:pt x="2750327" y="0"/>
                    <a:pt x="2768825" y="7662"/>
                    <a:pt x="2782463" y="21301"/>
                  </a:cubicBezTo>
                  <a:cubicBezTo>
                    <a:pt x="2796102" y="34939"/>
                    <a:pt x="2803764" y="53437"/>
                    <a:pt x="2803764" y="72725"/>
                  </a:cubicBezTo>
                  <a:lnTo>
                    <a:pt x="2803764" y="473809"/>
                  </a:lnTo>
                  <a:cubicBezTo>
                    <a:pt x="2803764" y="513974"/>
                    <a:pt x="2771204" y="546534"/>
                    <a:pt x="2731039" y="546534"/>
                  </a:cubicBezTo>
                  <a:lnTo>
                    <a:pt x="72725" y="546534"/>
                  </a:lnTo>
                  <a:cubicBezTo>
                    <a:pt x="53437" y="546534"/>
                    <a:pt x="34939" y="538872"/>
                    <a:pt x="21301" y="525233"/>
                  </a:cubicBezTo>
                  <a:cubicBezTo>
                    <a:pt x="7662" y="511595"/>
                    <a:pt x="0" y="493097"/>
                    <a:pt x="0" y="473809"/>
                  </a:cubicBezTo>
                  <a:lnTo>
                    <a:pt x="0" y="72725"/>
                  </a:lnTo>
                  <a:cubicBezTo>
                    <a:pt x="0" y="53437"/>
                    <a:pt x="7662" y="34939"/>
                    <a:pt x="21301" y="21301"/>
                  </a:cubicBezTo>
                  <a:cubicBezTo>
                    <a:pt x="34939" y="7662"/>
                    <a:pt x="53437" y="0"/>
                    <a:pt x="72725" y="0"/>
                  </a:cubicBezTo>
                  <a:close/>
                </a:path>
              </a:pathLst>
            </a:custGeom>
            <a:solidFill>
              <a:srgbClr val="F26B0F"/>
            </a:solidFill>
          </p:spPr>
        </p:sp>
        <p:sp>
          <p:nvSpPr>
            <p:cNvPr id="7" name="TextBox 7"/>
            <p:cNvSpPr txBox="1"/>
            <p:nvPr/>
          </p:nvSpPr>
          <p:spPr>
            <a:xfrm>
              <a:off x="0" y="-28575"/>
              <a:ext cx="2803764" cy="575109"/>
            </a:xfrm>
            <a:prstGeom prst="rect">
              <a:avLst/>
            </a:prstGeom>
          </p:spPr>
          <p:txBody>
            <a:bodyPr lIns="50800" tIns="50800" rIns="50800" bIns="50800" rtlCol="0" anchor="ctr"/>
            <a:lstStyle/>
            <a:p>
              <a:pPr marL="0" lvl="0" indent="0" algn="ctr">
                <a:lnSpc>
                  <a:spcPts val="2100"/>
                </a:lnSpc>
              </a:pPr>
              <a:endParaRPr/>
            </a:p>
          </p:txBody>
        </p:sp>
      </p:grpSp>
      <p:grpSp>
        <p:nvGrpSpPr>
          <p:cNvPr id="8" name="Group 8"/>
          <p:cNvGrpSpPr/>
          <p:nvPr/>
        </p:nvGrpSpPr>
        <p:grpSpPr>
          <a:xfrm>
            <a:off x="-2889006" y="9258300"/>
            <a:ext cx="24066013" cy="1630186"/>
            <a:chOff x="0" y="0"/>
            <a:chExt cx="6338374" cy="429349"/>
          </a:xfrm>
        </p:grpSpPr>
        <p:sp>
          <p:nvSpPr>
            <p:cNvPr id="9" name="Freeform 9"/>
            <p:cNvSpPr/>
            <p:nvPr/>
          </p:nvSpPr>
          <p:spPr>
            <a:xfrm>
              <a:off x="0" y="0"/>
              <a:ext cx="6338374" cy="429349"/>
            </a:xfrm>
            <a:custGeom>
              <a:avLst/>
              <a:gdLst/>
              <a:ahLst/>
              <a:cxnLst/>
              <a:rect l="l" t="t" r="r" b="b"/>
              <a:pathLst>
                <a:path w="6338374" h="429349">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id="10" name="TextBox 10"/>
            <p:cNvSpPr txBox="1"/>
            <p:nvPr/>
          </p:nvSpPr>
          <p:spPr>
            <a:xfrm>
              <a:off x="594223" y="2152"/>
              <a:ext cx="5149929" cy="38694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12275227" y="3463118"/>
            <a:ext cx="5682682" cy="6131551"/>
          </a:xfrm>
          <a:custGeom>
            <a:avLst/>
            <a:gdLst/>
            <a:ahLst/>
            <a:cxnLst/>
            <a:rect l="l" t="t" r="r" b="b"/>
            <a:pathLst>
              <a:path w="5682682" h="6131551">
                <a:moveTo>
                  <a:pt x="0" y="0"/>
                </a:moveTo>
                <a:lnTo>
                  <a:pt x="5682683" y="0"/>
                </a:lnTo>
                <a:lnTo>
                  <a:pt x="5682683" y="6131551"/>
                </a:lnTo>
                <a:lnTo>
                  <a:pt x="0" y="6131551"/>
                </a:lnTo>
                <a:lnTo>
                  <a:pt x="0" y="0"/>
                </a:lnTo>
                <a:close/>
              </a:path>
            </a:pathLst>
          </a:custGeom>
          <a:blipFill>
            <a:blip r:embed="rId3"/>
            <a:stretch>
              <a:fillRect/>
            </a:stretch>
          </a:blipFill>
        </p:spPr>
      </p:sp>
      <p:grpSp>
        <p:nvGrpSpPr>
          <p:cNvPr id="12" name="Group 12"/>
          <p:cNvGrpSpPr/>
          <p:nvPr/>
        </p:nvGrpSpPr>
        <p:grpSpPr>
          <a:xfrm>
            <a:off x="1028700" y="1028700"/>
            <a:ext cx="277902" cy="3681942"/>
            <a:chOff x="0" y="0"/>
            <a:chExt cx="73192" cy="969729"/>
          </a:xfrm>
        </p:grpSpPr>
        <p:sp>
          <p:nvSpPr>
            <p:cNvPr id="13" name="Freeform 13"/>
            <p:cNvSpPr/>
            <p:nvPr/>
          </p:nvSpPr>
          <p:spPr>
            <a:xfrm>
              <a:off x="0" y="0"/>
              <a:ext cx="73192" cy="969729"/>
            </a:xfrm>
            <a:custGeom>
              <a:avLst/>
              <a:gdLst/>
              <a:ahLst/>
              <a:cxnLst/>
              <a:rect l="l" t="t" r="r" b="b"/>
              <a:pathLst>
                <a:path w="73192" h="969729">
                  <a:moveTo>
                    <a:pt x="0" y="0"/>
                  </a:moveTo>
                  <a:lnTo>
                    <a:pt x="73192" y="0"/>
                  </a:lnTo>
                  <a:lnTo>
                    <a:pt x="73192" y="969729"/>
                  </a:lnTo>
                  <a:lnTo>
                    <a:pt x="0" y="969729"/>
                  </a:lnTo>
                  <a:close/>
                </a:path>
              </a:pathLst>
            </a:custGeom>
            <a:solidFill>
              <a:srgbClr val="FFDE59"/>
            </a:solidFill>
          </p:spPr>
        </p:sp>
        <p:sp>
          <p:nvSpPr>
            <p:cNvPr id="14" name="TextBox 14"/>
            <p:cNvSpPr txBox="1"/>
            <p:nvPr/>
          </p:nvSpPr>
          <p:spPr>
            <a:xfrm>
              <a:off x="0" y="-38100"/>
              <a:ext cx="73192" cy="1007829"/>
            </a:xfrm>
            <a:prstGeom prst="rect">
              <a:avLst/>
            </a:prstGeom>
          </p:spPr>
          <p:txBody>
            <a:bodyPr lIns="50800" tIns="50800" rIns="50800" bIns="50800" rtlCol="0" anchor="ctr"/>
            <a:lstStyle/>
            <a:p>
              <a:pPr marL="0" lvl="0" indent="0" algn="ctr">
                <a:lnSpc>
                  <a:spcPts val="2659"/>
                </a:lnSpc>
              </a:pPr>
              <a:endParaRPr/>
            </a:p>
          </p:txBody>
        </p:sp>
      </p:grpSp>
      <p:sp>
        <p:nvSpPr>
          <p:cNvPr id="15" name="Freeform 15"/>
          <p:cNvSpPr/>
          <p:nvPr/>
        </p:nvSpPr>
        <p:spPr>
          <a:xfrm>
            <a:off x="15592957" y="-231634"/>
            <a:ext cx="3152320" cy="3856175"/>
          </a:xfrm>
          <a:custGeom>
            <a:avLst/>
            <a:gdLst/>
            <a:ahLst/>
            <a:cxnLst/>
            <a:rect l="l" t="t" r="r" b="b"/>
            <a:pathLst>
              <a:path w="3152320" h="3856175">
                <a:moveTo>
                  <a:pt x="0" y="0"/>
                </a:moveTo>
                <a:lnTo>
                  <a:pt x="3152321" y="0"/>
                </a:lnTo>
                <a:lnTo>
                  <a:pt x="3152321" y="3856174"/>
                </a:lnTo>
                <a:lnTo>
                  <a:pt x="0" y="3856174"/>
                </a:lnTo>
                <a:lnTo>
                  <a:pt x="0" y="0"/>
                </a:lnTo>
                <a:close/>
              </a:path>
            </a:pathLst>
          </a:custGeom>
          <a:blipFill>
            <a:blip r:embed="rId4"/>
            <a:stretch>
              <a:fillRect l="-15905"/>
            </a:stretch>
          </a:blipFill>
        </p:spPr>
      </p:sp>
      <p:sp>
        <p:nvSpPr>
          <p:cNvPr id="16" name="TextBox 16"/>
          <p:cNvSpPr txBox="1"/>
          <p:nvPr/>
        </p:nvSpPr>
        <p:spPr>
          <a:xfrm>
            <a:off x="1612110" y="1238250"/>
            <a:ext cx="13926768" cy="4776629"/>
          </a:xfrm>
          <a:prstGeom prst="rect">
            <a:avLst/>
          </a:prstGeom>
        </p:spPr>
        <p:txBody>
          <a:bodyPr lIns="0" tIns="0" rIns="0" bIns="0" rtlCol="0" anchor="t">
            <a:spAutoFit/>
          </a:bodyPr>
          <a:lstStyle/>
          <a:p>
            <a:pPr marL="0" lvl="0" indent="0" algn="l">
              <a:lnSpc>
                <a:spcPts val="9561"/>
              </a:lnSpc>
            </a:pPr>
            <a:r>
              <a:rPr lang="en-US" sz="9959" dirty="0">
                <a:solidFill>
                  <a:srgbClr val="FFFFFF"/>
                </a:solidFill>
                <a:latin typeface="Lilita One"/>
                <a:ea typeface="Lilita One"/>
                <a:cs typeface="Lilita One"/>
                <a:sym typeface="Lilita One"/>
              </a:rPr>
              <a:t>HR </a:t>
            </a:r>
          </a:p>
          <a:p>
            <a:pPr marL="0" lvl="0" indent="0" algn="l">
              <a:lnSpc>
                <a:spcPts val="9561"/>
              </a:lnSpc>
            </a:pPr>
            <a:r>
              <a:rPr lang="en-US" sz="9959" dirty="0">
                <a:solidFill>
                  <a:srgbClr val="FFFFFF"/>
                </a:solidFill>
                <a:latin typeface="Lilita One"/>
                <a:ea typeface="Lilita One"/>
                <a:cs typeface="Lilita One"/>
                <a:sym typeface="Lilita One"/>
              </a:rPr>
              <a:t>INTELLIGENCE </a:t>
            </a:r>
          </a:p>
          <a:p>
            <a:pPr marL="0" lvl="0" indent="0" algn="l">
              <a:lnSpc>
                <a:spcPts val="9561"/>
              </a:lnSpc>
            </a:pPr>
            <a:r>
              <a:rPr lang="en-US" sz="9959" dirty="0">
                <a:solidFill>
                  <a:srgbClr val="FFFFFF"/>
                </a:solidFill>
                <a:latin typeface="Lilita One"/>
                <a:ea typeface="Lilita One"/>
                <a:cs typeface="Lilita One"/>
                <a:sym typeface="Lilita One"/>
              </a:rPr>
              <a:t>REPORT</a:t>
            </a:r>
          </a:p>
          <a:p>
            <a:pPr lvl="0">
              <a:lnSpc>
                <a:spcPts val="9561"/>
              </a:lnSpc>
            </a:pPr>
            <a:r>
              <a:rPr lang="en-IN" sz="5400" dirty="0">
                <a:solidFill>
                  <a:srgbClr val="FFFFFF"/>
                </a:solidFill>
                <a:latin typeface="Lilita One"/>
                <a:ea typeface="Lilita One"/>
                <a:cs typeface="Lilita One"/>
                <a:sym typeface="Lilita One"/>
              </a:rPr>
              <a:t>Understanding Employees Exits</a:t>
            </a:r>
            <a:endParaRPr lang="en-US" sz="5400" dirty="0">
              <a:solidFill>
                <a:srgbClr val="FFFFFF"/>
              </a:solidFill>
              <a:latin typeface="Lilita One"/>
              <a:ea typeface="Lilita One"/>
              <a:cs typeface="Lilita One"/>
              <a:sym typeface="Lilita One"/>
            </a:endParaRPr>
          </a:p>
        </p:txBody>
      </p:sp>
      <p:sp>
        <p:nvSpPr>
          <p:cNvPr id="17" name="Freeform 17"/>
          <p:cNvSpPr/>
          <p:nvPr/>
        </p:nvSpPr>
        <p:spPr>
          <a:xfrm>
            <a:off x="13532009" y="0"/>
            <a:ext cx="1584559" cy="1584559"/>
          </a:xfrm>
          <a:custGeom>
            <a:avLst/>
            <a:gdLst/>
            <a:ahLst/>
            <a:cxnLst/>
            <a:rect l="l" t="t" r="r" b="b"/>
            <a:pathLst>
              <a:path w="1584559" h="1584559">
                <a:moveTo>
                  <a:pt x="0" y="0"/>
                </a:moveTo>
                <a:lnTo>
                  <a:pt x="1584560" y="0"/>
                </a:lnTo>
                <a:lnTo>
                  <a:pt x="1584560" y="1584559"/>
                </a:lnTo>
                <a:lnTo>
                  <a:pt x="0" y="1584559"/>
                </a:lnTo>
                <a:lnTo>
                  <a:pt x="0" y="0"/>
                </a:lnTo>
                <a:close/>
              </a:path>
            </a:pathLst>
          </a:custGeom>
          <a:blipFill>
            <a:blip r:embed="rId5"/>
            <a:stretch>
              <a:fillRect/>
            </a:stretch>
          </a:blipFill>
        </p:spPr>
      </p:sp>
      <p:sp>
        <p:nvSpPr>
          <p:cNvPr id="18" name="TextBox 18"/>
          <p:cNvSpPr txBox="1"/>
          <p:nvPr/>
        </p:nvSpPr>
        <p:spPr>
          <a:xfrm>
            <a:off x="2138457" y="8037312"/>
            <a:ext cx="3649051" cy="506229"/>
          </a:xfrm>
          <a:prstGeom prst="rect">
            <a:avLst/>
          </a:prstGeom>
        </p:spPr>
        <p:txBody>
          <a:bodyPr wrap="square" lIns="0" tIns="0" rIns="0" bIns="0" rtlCol="0" anchor="t">
            <a:spAutoFit/>
          </a:bodyPr>
          <a:lstStyle/>
          <a:p>
            <a:pPr algn="ctr">
              <a:lnSpc>
                <a:spcPts val="4302"/>
              </a:lnSpc>
              <a:spcBef>
                <a:spcPct val="0"/>
              </a:spcBef>
            </a:pPr>
            <a:r>
              <a:rPr lang="en-US" sz="3073" dirty="0">
                <a:solidFill>
                  <a:srgbClr val="FFFFFF"/>
                </a:solidFill>
                <a:latin typeface="Inter"/>
                <a:ea typeface="Inter"/>
                <a:cs typeface="Inter"/>
                <a:sym typeface="Inter"/>
              </a:rPr>
              <a:t>• Karishma Rathod</a:t>
            </a:r>
          </a:p>
        </p:txBody>
      </p:sp>
      <p:sp>
        <p:nvSpPr>
          <p:cNvPr id="19" name="TextBox 19"/>
          <p:cNvSpPr txBox="1"/>
          <p:nvPr/>
        </p:nvSpPr>
        <p:spPr>
          <a:xfrm>
            <a:off x="6871610" y="8075223"/>
            <a:ext cx="3649051" cy="506229"/>
          </a:xfrm>
          <a:prstGeom prst="rect">
            <a:avLst/>
          </a:prstGeom>
        </p:spPr>
        <p:txBody>
          <a:bodyPr wrap="square" lIns="0" tIns="0" rIns="0" bIns="0" rtlCol="0" anchor="t">
            <a:spAutoFit/>
          </a:bodyPr>
          <a:lstStyle/>
          <a:p>
            <a:pPr algn="ctr">
              <a:lnSpc>
                <a:spcPts val="4302"/>
              </a:lnSpc>
              <a:spcBef>
                <a:spcPct val="0"/>
              </a:spcBef>
            </a:pPr>
            <a:r>
              <a:rPr lang="en-US" sz="3073" dirty="0">
                <a:solidFill>
                  <a:srgbClr val="FFFFFF"/>
                </a:solidFill>
                <a:latin typeface="Inter"/>
                <a:ea typeface="Inter"/>
                <a:cs typeface="Inter"/>
                <a:sym typeface="Inter"/>
              </a:rPr>
              <a:t>• Harsh Yadav</a:t>
            </a:r>
          </a:p>
        </p:txBody>
      </p:sp>
      <p:sp>
        <p:nvSpPr>
          <p:cNvPr id="20" name="TextBox 20"/>
          <p:cNvSpPr txBox="1"/>
          <p:nvPr/>
        </p:nvSpPr>
        <p:spPr>
          <a:xfrm>
            <a:off x="7014130" y="7426689"/>
            <a:ext cx="3939085" cy="506229"/>
          </a:xfrm>
          <a:prstGeom prst="rect">
            <a:avLst/>
          </a:prstGeom>
        </p:spPr>
        <p:txBody>
          <a:bodyPr wrap="square" lIns="0" tIns="0" rIns="0" bIns="0" rtlCol="0" anchor="t">
            <a:spAutoFit/>
          </a:bodyPr>
          <a:lstStyle/>
          <a:p>
            <a:pPr algn="ctr">
              <a:lnSpc>
                <a:spcPts val="4302"/>
              </a:lnSpc>
              <a:spcBef>
                <a:spcPct val="0"/>
              </a:spcBef>
            </a:pPr>
            <a:r>
              <a:rPr lang="en-US" sz="3073" dirty="0">
                <a:solidFill>
                  <a:srgbClr val="FFFFFF"/>
                </a:solidFill>
                <a:latin typeface="Inter"/>
                <a:ea typeface="Inter"/>
                <a:cs typeface="Inter"/>
                <a:sym typeface="Inter"/>
              </a:rPr>
              <a:t>• Sandhya </a:t>
            </a:r>
            <a:r>
              <a:rPr lang="en-US" sz="3073" dirty="0" err="1">
                <a:solidFill>
                  <a:srgbClr val="FFFFFF"/>
                </a:solidFill>
                <a:latin typeface="Inter"/>
                <a:ea typeface="Inter"/>
                <a:cs typeface="Inter"/>
                <a:sym typeface="Inter"/>
              </a:rPr>
              <a:t>Bishwal</a:t>
            </a:r>
            <a:endParaRPr lang="en-US" sz="3073" dirty="0">
              <a:solidFill>
                <a:srgbClr val="FFFFFF"/>
              </a:solidFill>
              <a:latin typeface="Inter"/>
              <a:ea typeface="Inter"/>
              <a:cs typeface="Inter"/>
              <a:sym typeface="Inter"/>
            </a:endParaRPr>
          </a:p>
        </p:txBody>
      </p:sp>
      <p:sp>
        <p:nvSpPr>
          <p:cNvPr id="21" name="TextBox 21"/>
          <p:cNvSpPr txBox="1"/>
          <p:nvPr/>
        </p:nvSpPr>
        <p:spPr>
          <a:xfrm>
            <a:off x="2259933" y="7400725"/>
            <a:ext cx="2462361" cy="513309"/>
          </a:xfrm>
          <a:prstGeom prst="rect">
            <a:avLst/>
          </a:prstGeom>
        </p:spPr>
        <p:txBody>
          <a:bodyPr lIns="0" tIns="0" rIns="0" bIns="0" rtlCol="0" anchor="t">
            <a:spAutoFit/>
          </a:bodyPr>
          <a:lstStyle/>
          <a:p>
            <a:pPr algn="ctr">
              <a:lnSpc>
                <a:spcPts val="4257"/>
              </a:lnSpc>
              <a:spcBef>
                <a:spcPct val="0"/>
              </a:spcBef>
            </a:pPr>
            <a:r>
              <a:rPr lang="en-US" sz="3041" dirty="0">
                <a:solidFill>
                  <a:srgbClr val="FFFFFF"/>
                </a:solidFill>
                <a:latin typeface="Inter"/>
                <a:ea typeface="Inter"/>
                <a:cs typeface="Inter"/>
                <a:sym typeface="Inter"/>
              </a:rPr>
              <a:t>• Dipesh Naik</a:t>
            </a:r>
          </a:p>
        </p:txBody>
      </p:sp>
      <p:sp>
        <p:nvSpPr>
          <p:cNvPr id="22" name="TextBox 22"/>
          <p:cNvSpPr txBox="1"/>
          <p:nvPr/>
        </p:nvSpPr>
        <p:spPr>
          <a:xfrm>
            <a:off x="4259716" y="6534363"/>
            <a:ext cx="3649051" cy="554062"/>
          </a:xfrm>
          <a:prstGeom prst="rect">
            <a:avLst/>
          </a:prstGeom>
        </p:spPr>
        <p:txBody>
          <a:bodyPr wrap="square" lIns="0" tIns="0" rIns="0" bIns="0" rtlCol="0" anchor="t">
            <a:spAutoFit/>
          </a:bodyPr>
          <a:lstStyle/>
          <a:p>
            <a:pPr algn="ctr">
              <a:lnSpc>
                <a:spcPts val="4738"/>
              </a:lnSpc>
              <a:spcBef>
                <a:spcPct val="0"/>
              </a:spcBef>
            </a:pPr>
            <a:r>
              <a:rPr lang="en-US" sz="3384" dirty="0">
                <a:solidFill>
                  <a:srgbClr val="FFFFFF"/>
                </a:solidFill>
                <a:latin typeface="Inter"/>
                <a:ea typeface="Inter"/>
                <a:cs typeface="Inter"/>
                <a:sym typeface="Inter"/>
              </a:rPr>
              <a:t>Analysis Team</a:t>
            </a:r>
          </a:p>
        </p:txBody>
      </p:sp>
      <p:grpSp>
        <p:nvGrpSpPr>
          <p:cNvPr id="23" name="Group 12">
            <a:extLst>
              <a:ext uri="{FF2B5EF4-FFF2-40B4-BE49-F238E27FC236}">
                <a16:creationId xmlns:a16="http://schemas.microsoft.com/office/drawing/2014/main" id="{90077B59-C31C-4C48-8CB9-97F61FAE2AED}"/>
              </a:ext>
            </a:extLst>
          </p:cNvPr>
          <p:cNvGrpSpPr/>
          <p:nvPr/>
        </p:nvGrpSpPr>
        <p:grpSpPr>
          <a:xfrm>
            <a:off x="1028700" y="5165361"/>
            <a:ext cx="277902" cy="918713"/>
            <a:chOff x="0" y="0"/>
            <a:chExt cx="73192" cy="969729"/>
          </a:xfrm>
        </p:grpSpPr>
        <p:sp>
          <p:nvSpPr>
            <p:cNvPr id="24" name="Freeform 13">
              <a:extLst>
                <a:ext uri="{FF2B5EF4-FFF2-40B4-BE49-F238E27FC236}">
                  <a16:creationId xmlns:a16="http://schemas.microsoft.com/office/drawing/2014/main" id="{A0B15413-06FD-55C6-60FF-07540E1AAC50}"/>
                </a:ext>
              </a:extLst>
            </p:cNvPr>
            <p:cNvSpPr/>
            <p:nvPr/>
          </p:nvSpPr>
          <p:spPr>
            <a:xfrm>
              <a:off x="0" y="0"/>
              <a:ext cx="73192" cy="969729"/>
            </a:xfrm>
            <a:custGeom>
              <a:avLst/>
              <a:gdLst/>
              <a:ahLst/>
              <a:cxnLst/>
              <a:rect l="l" t="t" r="r" b="b"/>
              <a:pathLst>
                <a:path w="73192" h="969729">
                  <a:moveTo>
                    <a:pt x="0" y="0"/>
                  </a:moveTo>
                  <a:lnTo>
                    <a:pt x="73192" y="0"/>
                  </a:lnTo>
                  <a:lnTo>
                    <a:pt x="73192" y="969729"/>
                  </a:lnTo>
                  <a:lnTo>
                    <a:pt x="0" y="969729"/>
                  </a:lnTo>
                  <a:close/>
                </a:path>
              </a:pathLst>
            </a:custGeom>
            <a:solidFill>
              <a:srgbClr val="FFDE59"/>
            </a:solidFill>
          </p:spPr>
        </p:sp>
        <p:sp>
          <p:nvSpPr>
            <p:cNvPr id="25" name="TextBox 14">
              <a:extLst>
                <a:ext uri="{FF2B5EF4-FFF2-40B4-BE49-F238E27FC236}">
                  <a16:creationId xmlns:a16="http://schemas.microsoft.com/office/drawing/2014/main" id="{6F144FF6-78D0-480D-E648-BCB86FB83728}"/>
                </a:ext>
              </a:extLst>
            </p:cNvPr>
            <p:cNvSpPr txBox="1"/>
            <p:nvPr/>
          </p:nvSpPr>
          <p:spPr>
            <a:xfrm>
              <a:off x="0" y="-38100"/>
              <a:ext cx="73192" cy="1007829"/>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grpSp>
        <p:nvGrpSpPr>
          <p:cNvPr id="2" name="Group 2"/>
          <p:cNvGrpSpPr/>
          <p:nvPr/>
        </p:nvGrpSpPr>
        <p:grpSpPr>
          <a:xfrm>
            <a:off x="-1134441" y="0"/>
            <a:ext cx="20556882" cy="10287000"/>
            <a:chOff x="0" y="0"/>
            <a:chExt cx="27409176"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3693176"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a:off x="9314757" y="3565646"/>
            <a:ext cx="7944543" cy="5555853"/>
            <a:chOff x="0" y="0"/>
            <a:chExt cx="2092390" cy="1463270"/>
          </a:xfrm>
        </p:grpSpPr>
        <p:sp>
          <p:nvSpPr>
            <p:cNvPr id="6" name="Freeform 6"/>
            <p:cNvSpPr/>
            <p:nvPr/>
          </p:nvSpPr>
          <p:spPr>
            <a:xfrm>
              <a:off x="0" y="0"/>
              <a:ext cx="2092390" cy="1463270"/>
            </a:xfrm>
            <a:custGeom>
              <a:avLst/>
              <a:gdLst/>
              <a:ahLst/>
              <a:cxnLst/>
              <a:rect l="l" t="t" r="r" b="b"/>
              <a:pathLst>
                <a:path w="2092390" h="1463270">
                  <a:moveTo>
                    <a:pt x="48725" y="0"/>
                  </a:moveTo>
                  <a:lnTo>
                    <a:pt x="2043665" y="0"/>
                  </a:lnTo>
                  <a:cubicBezTo>
                    <a:pt x="2070575" y="0"/>
                    <a:pt x="2092390" y="21815"/>
                    <a:pt x="2092390" y="48725"/>
                  </a:cubicBezTo>
                  <a:lnTo>
                    <a:pt x="2092390" y="1414545"/>
                  </a:lnTo>
                  <a:cubicBezTo>
                    <a:pt x="2092390" y="1427468"/>
                    <a:pt x="2087257" y="1439861"/>
                    <a:pt x="2078119" y="1448999"/>
                  </a:cubicBezTo>
                  <a:cubicBezTo>
                    <a:pt x="2068981" y="1458136"/>
                    <a:pt x="2056588" y="1463270"/>
                    <a:pt x="2043665" y="1463270"/>
                  </a:cubicBezTo>
                  <a:lnTo>
                    <a:pt x="48725" y="1463270"/>
                  </a:lnTo>
                  <a:cubicBezTo>
                    <a:pt x="35802" y="1463270"/>
                    <a:pt x="23409" y="1458136"/>
                    <a:pt x="14271" y="1448999"/>
                  </a:cubicBezTo>
                  <a:cubicBezTo>
                    <a:pt x="5133" y="1439861"/>
                    <a:pt x="0" y="1427468"/>
                    <a:pt x="0" y="1414545"/>
                  </a:cubicBezTo>
                  <a:lnTo>
                    <a:pt x="0" y="48725"/>
                  </a:lnTo>
                  <a:cubicBezTo>
                    <a:pt x="0" y="35802"/>
                    <a:pt x="5133" y="23409"/>
                    <a:pt x="14271" y="14271"/>
                  </a:cubicBezTo>
                  <a:cubicBezTo>
                    <a:pt x="23409" y="5133"/>
                    <a:pt x="35802" y="0"/>
                    <a:pt x="48725" y="0"/>
                  </a:cubicBezTo>
                  <a:close/>
                </a:path>
              </a:pathLst>
            </a:custGeom>
            <a:solidFill>
              <a:srgbClr val="F26B0F"/>
            </a:solidFill>
          </p:spPr>
        </p:sp>
        <p:sp>
          <p:nvSpPr>
            <p:cNvPr id="7" name="TextBox 7"/>
            <p:cNvSpPr txBox="1"/>
            <p:nvPr/>
          </p:nvSpPr>
          <p:spPr>
            <a:xfrm>
              <a:off x="0" y="-38100"/>
              <a:ext cx="2092390" cy="1501370"/>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2889006" y="9258300"/>
            <a:ext cx="24066013" cy="1630186"/>
            <a:chOff x="0" y="0"/>
            <a:chExt cx="6338374" cy="429349"/>
          </a:xfrm>
        </p:grpSpPr>
        <p:sp>
          <p:nvSpPr>
            <p:cNvPr id="9" name="Freeform 9"/>
            <p:cNvSpPr/>
            <p:nvPr/>
          </p:nvSpPr>
          <p:spPr>
            <a:xfrm>
              <a:off x="0" y="0"/>
              <a:ext cx="6338374" cy="429349"/>
            </a:xfrm>
            <a:custGeom>
              <a:avLst/>
              <a:gdLst/>
              <a:ahLst/>
              <a:cxnLst/>
              <a:rect l="l" t="t" r="r" b="b"/>
              <a:pathLst>
                <a:path w="6338374" h="429349">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id="10" name="TextBox 10"/>
            <p:cNvSpPr txBox="1"/>
            <p:nvPr/>
          </p:nvSpPr>
          <p:spPr>
            <a:xfrm>
              <a:off x="594223" y="2152"/>
              <a:ext cx="5149929" cy="38694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447740" y="587481"/>
            <a:ext cx="2384876" cy="1817794"/>
          </a:xfrm>
          <a:custGeom>
            <a:avLst/>
            <a:gdLst/>
            <a:ahLst/>
            <a:cxnLst/>
            <a:rect l="l" t="t" r="r" b="b"/>
            <a:pathLst>
              <a:path w="2384876" h="1817794">
                <a:moveTo>
                  <a:pt x="0" y="0"/>
                </a:moveTo>
                <a:lnTo>
                  <a:pt x="2384875" y="0"/>
                </a:lnTo>
                <a:lnTo>
                  <a:pt x="2384875" y="1817795"/>
                </a:lnTo>
                <a:lnTo>
                  <a:pt x="0" y="181779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rot="-6506237">
            <a:off x="-63426" y="-669717"/>
            <a:ext cx="1068703" cy="1532191"/>
          </a:xfrm>
          <a:custGeom>
            <a:avLst/>
            <a:gdLst/>
            <a:ahLst/>
            <a:cxnLst/>
            <a:rect l="l" t="t" r="r" b="b"/>
            <a:pathLst>
              <a:path w="1068703" h="1532191">
                <a:moveTo>
                  <a:pt x="0" y="0"/>
                </a:moveTo>
                <a:lnTo>
                  <a:pt x="1068703" y="0"/>
                </a:lnTo>
                <a:lnTo>
                  <a:pt x="1068703" y="1532191"/>
                </a:lnTo>
                <a:lnTo>
                  <a:pt x="0" y="15321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rot="-3082179">
            <a:off x="16621236" y="488264"/>
            <a:ext cx="1066842" cy="1529523"/>
          </a:xfrm>
          <a:custGeom>
            <a:avLst/>
            <a:gdLst/>
            <a:ahLst/>
            <a:cxnLst/>
            <a:rect l="l" t="t" r="r" b="b"/>
            <a:pathLst>
              <a:path w="1066842" h="1529523">
                <a:moveTo>
                  <a:pt x="0" y="0"/>
                </a:moveTo>
                <a:lnTo>
                  <a:pt x="1066843" y="0"/>
                </a:lnTo>
                <a:lnTo>
                  <a:pt x="1066843" y="1529523"/>
                </a:lnTo>
                <a:lnTo>
                  <a:pt x="0" y="1529523"/>
                </a:lnTo>
                <a:lnTo>
                  <a:pt x="0" y="0"/>
                </a:lnTo>
                <a:close/>
              </a:path>
            </a:pathLst>
          </a:custGeom>
          <a:blipFill>
            <a:blip>
              <a:extLst>
                <a:ext uri="{96DAC541-7B7A-43D3-8B79-37D633B846F1}">
                  <asvg:svgBlip xmlns:asvg="http://schemas.microsoft.com/office/drawing/2016/SVG/main" r:embed="rId4"/>
                </a:ext>
              </a:extLst>
            </a:blip>
            <a:stretch>
              <a:fillRect/>
            </a:stretch>
          </a:blipFill>
        </p:spPr>
      </p:sp>
      <p:graphicFrame>
        <p:nvGraphicFramePr>
          <p:cNvPr id="14" name="Table 14"/>
          <p:cNvGraphicFramePr>
            <a:graphicFrameLocks noGrp="1"/>
          </p:cNvGraphicFramePr>
          <p:nvPr>
            <p:extLst>
              <p:ext uri="{D42A27DB-BD31-4B8C-83A1-F6EECF244321}">
                <p14:modId xmlns:p14="http://schemas.microsoft.com/office/powerpoint/2010/main" val="836177835"/>
              </p:ext>
            </p:extLst>
          </p:nvPr>
        </p:nvGraphicFramePr>
        <p:xfrm>
          <a:off x="470925" y="4364958"/>
          <a:ext cx="8342628" cy="4889890"/>
        </p:xfrm>
        <a:graphic>
          <a:graphicData uri="http://schemas.openxmlformats.org/drawingml/2006/table">
            <a:tbl>
              <a:tblPr/>
              <a:tblGrid>
                <a:gridCol w="2963518">
                  <a:extLst>
                    <a:ext uri="{9D8B030D-6E8A-4147-A177-3AD203B41FA5}">
                      <a16:colId xmlns:a16="http://schemas.microsoft.com/office/drawing/2014/main" val="20000"/>
                    </a:ext>
                  </a:extLst>
                </a:gridCol>
                <a:gridCol w="5379110">
                  <a:extLst>
                    <a:ext uri="{9D8B030D-6E8A-4147-A177-3AD203B41FA5}">
                      <a16:colId xmlns:a16="http://schemas.microsoft.com/office/drawing/2014/main" val="20001"/>
                    </a:ext>
                  </a:extLst>
                </a:gridCol>
              </a:tblGrid>
              <a:tr h="831757">
                <a:tc>
                  <a:txBody>
                    <a:bodyPr/>
                    <a:lstStyle/>
                    <a:p>
                      <a:pPr algn="ctr">
                        <a:lnSpc>
                          <a:spcPts val="3079"/>
                        </a:lnSpc>
                        <a:defRPr/>
                      </a:pPr>
                      <a:r>
                        <a:rPr lang="en-US" sz="2199" b="1">
                          <a:solidFill>
                            <a:srgbClr val="FFFFFF"/>
                          </a:solidFill>
                          <a:latin typeface="Inter Bold"/>
                          <a:ea typeface="Inter Bold"/>
                          <a:cs typeface="Inter Bold"/>
                          <a:sym typeface="Inter Bold"/>
                        </a:rPr>
                        <a:t>Domain</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079"/>
                        </a:lnSpc>
                        <a:defRPr/>
                      </a:pPr>
                      <a:r>
                        <a:rPr lang="en-US" sz="2199" dirty="0">
                          <a:solidFill>
                            <a:srgbClr val="FFFFFF"/>
                          </a:solidFill>
                          <a:latin typeface="Inter"/>
                          <a:ea typeface="Inter"/>
                          <a:cs typeface="Inter"/>
                          <a:sym typeface="Inter"/>
                        </a:rPr>
                        <a:t>Human Resources (HR Analytics)</a:t>
                      </a:r>
                      <a:endParaRPr lang="en-US" sz="1100" dirty="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0"/>
                  </a:ext>
                </a:extLst>
              </a:tr>
              <a:tr h="831757">
                <a:tc>
                  <a:txBody>
                    <a:bodyPr/>
                    <a:lstStyle/>
                    <a:p>
                      <a:pPr algn="ctr">
                        <a:lnSpc>
                          <a:spcPts val="3079"/>
                        </a:lnSpc>
                        <a:defRPr/>
                      </a:pPr>
                      <a:r>
                        <a:rPr lang="en-US" sz="2199" b="1">
                          <a:solidFill>
                            <a:srgbClr val="FFFFFF"/>
                          </a:solidFill>
                          <a:latin typeface="Inter Bold"/>
                          <a:ea typeface="Inter Bold"/>
                          <a:cs typeface="Inter Bold"/>
                          <a:sym typeface="Inter Bold"/>
                        </a:rPr>
                        <a:t>Data Source</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Inter"/>
                          <a:ea typeface="Inter"/>
                          <a:cs typeface="Inter"/>
                          <a:sym typeface="Inter"/>
                        </a:rPr>
                        <a:t>Kaggle/Institute Drive</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1"/>
                  </a:ext>
                </a:extLst>
              </a:tr>
              <a:tr h="806594">
                <a:tc>
                  <a:txBody>
                    <a:bodyPr/>
                    <a:lstStyle/>
                    <a:p>
                      <a:pPr algn="ctr">
                        <a:lnSpc>
                          <a:spcPts val="3079"/>
                        </a:lnSpc>
                        <a:defRPr/>
                      </a:pPr>
                      <a:r>
                        <a:rPr lang="en-US" sz="2199" b="1">
                          <a:solidFill>
                            <a:srgbClr val="FFFFFF"/>
                          </a:solidFill>
                          <a:latin typeface="Inter Bold"/>
                          <a:ea typeface="Inter Bold"/>
                          <a:cs typeface="Inter Bold"/>
                          <a:sym typeface="Inter Bold"/>
                        </a:rPr>
                        <a:t>Data Format</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Inter"/>
                          <a:ea typeface="Inter"/>
                          <a:cs typeface="Inter"/>
                          <a:sym typeface="Inter"/>
                        </a:rPr>
                        <a:t>Excel File </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2"/>
                  </a:ext>
                </a:extLst>
              </a:tr>
              <a:tr h="806594">
                <a:tc>
                  <a:txBody>
                    <a:bodyPr/>
                    <a:lstStyle/>
                    <a:p>
                      <a:pPr algn="ctr">
                        <a:lnSpc>
                          <a:spcPts val="3079"/>
                        </a:lnSpc>
                        <a:defRPr/>
                      </a:pPr>
                      <a:r>
                        <a:rPr lang="en-US" sz="2199" b="1">
                          <a:solidFill>
                            <a:srgbClr val="FFFFFF"/>
                          </a:solidFill>
                          <a:latin typeface="Inter Bold"/>
                          <a:ea typeface="Inter Bold"/>
                          <a:cs typeface="Inter Bold"/>
                          <a:sym typeface="Inter Bold"/>
                        </a:rPr>
                        <a:t>Tools Used</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Inter"/>
                          <a:ea typeface="Inter"/>
                          <a:cs typeface="Inter"/>
                          <a:sym typeface="Inter"/>
                        </a:rPr>
                        <a:t>Power BI Desktop &amp; Power Query</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3"/>
                  </a:ext>
                </a:extLst>
              </a:tr>
              <a:tr h="806594">
                <a:tc>
                  <a:txBody>
                    <a:bodyPr/>
                    <a:lstStyle/>
                    <a:p>
                      <a:pPr algn="ctr">
                        <a:lnSpc>
                          <a:spcPts val="2799"/>
                        </a:lnSpc>
                        <a:defRPr/>
                      </a:pPr>
                      <a:r>
                        <a:rPr lang="en-US" sz="1999" b="1">
                          <a:solidFill>
                            <a:srgbClr val="FFFFFF"/>
                          </a:solidFill>
                          <a:latin typeface="Inter Bold"/>
                          <a:ea typeface="Inter Bold"/>
                          <a:cs typeface="Inter Bold"/>
                          <a:sym typeface="Inter Bold"/>
                        </a:rPr>
                        <a:t>Number of columns</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Inter"/>
                          <a:ea typeface="Inter"/>
                          <a:cs typeface="Inter"/>
                          <a:sym typeface="Inter"/>
                        </a:rPr>
                        <a:t>35</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4"/>
                  </a:ext>
                </a:extLst>
              </a:tr>
              <a:tr h="806594">
                <a:tc>
                  <a:txBody>
                    <a:bodyPr/>
                    <a:lstStyle/>
                    <a:p>
                      <a:pPr algn="ctr">
                        <a:lnSpc>
                          <a:spcPts val="2799"/>
                        </a:lnSpc>
                        <a:defRPr/>
                      </a:pPr>
                      <a:r>
                        <a:rPr lang="en-US" sz="1999" b="1">
                          <a:solidFill>
                            <a:srgbClr val="FFFFFF"/>
                          </a:solidFill>
                          <a:latin typeface="Inter Bold"/>
                          <a:ea typeface="Inter Bold"/>
                          <a:cs typeface="Inter Bold"/>
                          <a:sym typeface="Inter Bold"/>
                        </a:rPr>
                        <a:t>Number of Records</a:t>
                      </a:r>
                      <a:endParaRPr lang="en-US" sz="110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tc>
                  <a:txBody>
                    <a:bodyPr/>
                    <a:lstStyle/>
                    <a:p>
                      <a:pPr algn="ctr">
                        <a:lnSpc>
                          <a:spcPts val="3079"/>
                        </a:lnSpc>
                        <a:defRPr/>
                      </a:pPr>
                      <a:r>
                        <a:rPr lang="en-US" sz="2199" dirty="0">
                          <a:solidFill>
                            <a:srgbClr val="FFFFFF"/>
                          </a:solidFill>
                          <a:latin typeface="Inter"/>
                          <a:ea typeface="Inter"/>
                          <a:cs typeface="Inter"/>
                          <a:sym typeface="Inter"/>
                        </a:rPr>
                        <a:t>1470</a:t>
                      </a:r>
                      <a:endParaRPr lang="en-US" sz="1100" dirty="0"/>
                    </a:p>
                  </a:txBody>
                  <a:tcPr marL="190500" marR="190500" marT="190500" marB="190500" anchor="ctr">
                    <a:lnL w="38100" cap="flat" cmpd="sng" algn="ctr">
                      <a:solidFill>
                        <a:srgbClr val="FFD699"/>
                      </a:solidFill>
                      <a:prstDash val="solid"/>
                      <a:round/>
                      <a:headEnd type="none" w="med" len="med"/>
                      <a:tailEnd type="none" w="med" len="med"/>
                    </a:lnL>
                    <a:lnR w="38100" cap="flat" cmpd="sng" algn="ctr">
                      <a:solidFill>
                        <a:srgbClr val="FFD699"/>
                      </a:solidFill>
                      <a:prstDash val="solid"/>
                      <a:round/>
                      <a:headEnd type="none" w="med" len="med"/>
                      <a:tailEnd type="none" w="med" len="med"/>
                    </a:lnR>
                    <a:lnT w="38100" cap="flat" cmpd="sng" algn="ctr">
                      <a:solidFill>
                        <a:srgbClr val="FFD699"/>
                      </a:solidFill>
                      <a:prstDash val="solid"/>
                      <a:round/>
                      <a:headEnd type="none" w="med" len="med"/>
                      <a:tailEnd type="none" w="med" len="med"/>
                    </a:lnT>
                    <a:lnB w="38100"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5" name="Group 15"/>
          <p:cNvGrpSpPr/>
          <p:nvPr/>
        </p:nvGrpSpPr>
        <p:grpSpPr>
          <a:xfrm>
            <a:off x="12631818" y="4986462"/>
            <a:ext cx="341298" cy="341298"/>
            <a:chOff x="0" y="0"/>
            <a:chExt cx="812800" cy="812800"/>
          </a:xfrm>
        </p:grpSpPr>
        <p:sp>
          <p:nvSpPr>
            <p:cNvPr id="16" name="Freeform 16"/>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id="17" name="TextBox 17"/>
            <p:cNvSpPr txBox="1"/>
            <p:nvPr/>
          </p:nvSpPr>
          <p:spPr>
            <a:xfrm>
              <a:off x="203200" y="-38100"/>
              <a:ext cx="406400" cy="749300"/>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3851183" y="470228"/>
            <a:ext cx="8934642" cy="620730"/>
          </a:xfrm>
          <a:prstGeom prst="rect">
            <a:avLst/>
          </a:prstGeom>
        </p:spPr>
        <p:txBody>
          <a:bodyPr lIns="0" tIns="0" rIns="0" bIns="0" rtlCol="0" anchor="t">
            <a:spAutoFit/>
          </a:bodyPr>
          <a:lstStyle/>
          <a:p>
            <a:pPr marL="0" lvl="0" indent="0" algn="l">
              <a:lnSpc>
                <a:spcPts val="4550"/>
              </a:lnSpc>
            </a:pPr>
            <a:r>
              <a:rPr lang="en-US" sz="4740">
                <a:solidFill>
                  <a:srgbClr val="FFFFFF"/>
                </a:solidFill>
                <a:latin typeface="Lilita One"/>
                <a:ea typeface="Lilita One"/>
                <a:cs typeface="Lilita One"/>
                <a:sym typeface="Lilita One"/>
              </a:rPr>
              <a:t>INTRODUCTION</a:t>
            </a:r>
          </a:p>
        </p:txBody>
      </p:sp>
      <p:sp>
        <p:nvSpPr>
          <p:cNvPr id="19" name="TextBox 19"/>
          <p:cNvSpPr txBox="1"/>
          <p:nvPr/>
        </p:nvSpPr>
        <p:spPr>
          <a:xfrm>
            <a:off x="11998262" y="4397244"/>
            <a:ext cx="6820810" cy="400774"/>
          </a:xfrm>
          <a:prstGeom prst="rect">
            <a:avLst/>
          </a:prstGeom>
        </p:spPr>
        <p:txBody>
          <a:bodyPr lIns="0" tIns="0" rIns="0" bIns="0" rtlCol="0" anchor="t">
            <a:spAutoFit/>
          </a:bodyPr>
          <a:lstStyle/>
          <a:p>
            <a:pPr marL="0" lvl="0" indent="0" algn="just">
              <a:lnSpc>
                <a:spcPts val="3110"/>
              </a:lnSpc>
            </a:pPr>
            <a:r>
              <a:rPr lang="en-US" sz="2221">
                <a:solidFill>
                  <a:srgbClr val="FFFFFF"/>
                </a:solidFill>
                <a:latin typeface="Poppins"/>
                <a:ea typeface="Poppins"/>
                <a:cs typeface="Poppins"/>
                <a:sym typeface="Poppins"/>
              </a:rPr>
              <a:t>Raw Data</a:t>
            </a:r>
          </a:p>
        </p:txBody>
      </p:sp>
      <p:sp>
        <p:nvSpPr>
          <p:cNvPr id="20" name="TextBox 20"/>
          <p:cNvSpPr txBox="1"/>
          <p:nvPr/>
        </p:nvSpPr>
        <p:spPr>
          <a:xfrm>
            <a:off x="2264020" y="1329947"/>
            <a:ext cx="13235366" cy="1707968"/>
          </a:xfrm>
          <a:prstGeom prst="rect">
            <a:avLst/>
          </a:prstGeom>
        </p:spPr>
        <p:txBody>
          <a:bodyPr lIns="0" tIns="0" rIns="0" bIns="0" rtlCol="0" anchor="t">
            <a:spAutoFit/>
          </a:bodyPr>
          <a:lstStyle/>
          <a:p>
            <a:pPr>
              <a:lnSpc>
                <a:spcPts val="3386"/>
              </a:lnSpc>
            </a:pPr>
            <a:r>
              <a:rPr lang="en-US" sz="2418" b="1" dirty="0">
                <a:solidFill>
                  <a:srgbClr val="FFFFFF"/>
                </a:solidFill>
                <a:latin typeface="Inter Bold"/>
                <a:ea typeface="Inter Bold"/>
                <a:cs typeface="Inter Bold"/>
                <a:sym typeface="Inter Bold"/>
              </a:rPr>
              <a:t>Staff turnover is a Major Challenge for Organizations today. It Increases Hiring costs and Affects Productivity. HR Needs a Clear Way to Analyze employee data and Identify the Root Cause of Attrition. This Dashboard Helps Understand why people leave and where to improve Employee Commitment.</a:t>
            </a:r>
          </a:p>
        </p:txBody>
      </p:sp>
      <p:sp>
        <p:nvSpPr>
          <p:cNvPr id="21" name="TextBox 21"/>
          <p:cNvSpPr txBox="1"/>
          <p:nvPr/>
        </p:nvSpPr>
        <p:spPr>
          <a:xfrm>
            <a:off x="10157750" y="3645315"/>
            <a:ext cx="6820810" cy="509360"/>
          </a:xfrm>
          <a:prstGeom prst="rect">
            <a:avLst/>
          </a:prstGeom>
        </p:spPr>
        <p:txBody>
          <a:bodyPr lIns="0" tIns="0" rIns="0" bIns="0" rtlCol="0" anchor="t">
            <a:spAutoFit/>
          </a:bodyPr>
          <a:lstStyle/>
          <a:p>
            <a:pPr marL="0" lvl="0" indent="0" algn="just">
              <a:lnSpc>
                <a:spcPts val="3950"/>
              </a:lnSpc>
            </a:pPr>
            <a:r>
              <a:rPr lang="en-US" sz="2821" b="1" u="sng">
                <a:solidFill>
                  <a:srgbClr val="FFFFFF"/>
                </a:solidFill>
                <a:latin typeface="Poppins Bold"/>
                <a:ea typeface="Poppins Bold"/>
                <a:cs typeface="Poppins Bold"/>
                <a:sym typeface="Poppins Bold"/>
              </a:rPr>
              <a:t>Project Workfow</a:t>
            </a:r>
          </a:p>
        </p:txBody>
      </p:sp>
      <p:sp>
        <p:nvSpPr>
          <p:cNvPr id="22" name="TextBox 22"/>
          <p:cNvSpPr txBox="1"/>
          <p:nvPr/>
        </p:nvSpPr>
        <p:spPr>
          <a:xfrm>
            <a:off x="8863368" y="5289660"/>
            <a:ext cx="7944543" cy="372745"/>
          </a:xfrm>
          <a:prstGeom prst="rect">
            <a:avLst/>
          </a:prstGeom>
        </p:spPr>
        <p:txBody>
          <a:bodyPr lIns="0" tIns="0" rIns="0" bIns="0" rtlCol="0" anchor="t">
            <a:spAutoFit/>
          </a:bodyPr>
          <a:lstStyle/>
          <a:p>
            <a:pPr algn="ctr">
              <a:lnSpc>
                <a:spcPts val="3079"/>
              </a:lnSpc>
              <a:spcBef>
                <a:spcPct val="0"/>
              </a:spcBef>
            </a:pPr>
            <a:r>
              <a:rPr lang="en-US" sz="2199">
                <a:solidFill>
                  <a:srgbClr val="FFFFFF"/>
                </a:solidFill>
                <a:latin typeface="Inter"/>
                <a:ea typeface="Inter"/>
                <a:cs typeface="Inter"/>
                <a:sym typeface="Inter"/>
              </a:rPr>
              <a:t>Data Transformation</a:t>
            </a:r>
          </a:p>
        </p:txBody>
      </p:sp>
      <p:grpSp>
        <p:nvGrpSpPr>
          <p:cNvPr id="23" name="Group 23"/>
          <p:cNvGrpSpPr/>
          <p:nvPr/>
        </p:nvGrpSpPr>
        <p:grpSpPr>
          <a:xfrm>
            <a:off x="12631818" y="5754747"/>
            <a:ext cx="341298" cy="341298"/>
            <a:chOff x="0" y="0"/>
            <a:chExt cx="812800" cy="812800"/>
          </a:xfrm>
        </p:grpSpPr>
        <p:sp>
          <p:nvSpPr>
            <p:cNvPr id="24" name="Freeform 24"/>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id="25" name="TextBox 25"/>
            <p:cNvSpPr txBox="1"/>
            <p:nvPr/>
          </p:nvSpPr>
          <p:spPr>
            <a:xfrm>
              <a:off x="203200" y="-38100"/>
              <a:ext cx="406400" cy="74930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8813554" y="6144349"/>
            <a:ext cx="7944543" cy="372745"/>
          </a:xfrm>
          <a:prstGeom prst="rect">
            <a:avLst/>
          </a:prstGeom>
        </p:spPr>
        <p:txBody>
          <a:bodyPr lIns="0" tIns="0" rIns="0" bIns="0" rtlCol="0" anchor="t">
            <a:spAutoFit/>
          </a:bodyPr>
          <a:lstStyle/>
          <a:p>
            <a:pPr algn="ctr">
              <a:lnSpc>
                <a:spcPts val="3079"/>
              </a:lnSpc>
              <a:spcBef>
                <a:spcPct val="0"/>
              </a:spcBef>
            </a:pPr>
            <a:r>
              <a:rPr lang="en-US" sz="2199">
                <a:solidFill>
                  <a:srgbClr val="FFFFFF"/>
                </a:solidFill>
                <a:latin typeface="Inter"/>
                <a:ea typeface="Inter"/>
                <a:cs typeface="Inter"/>
                <a:sym typeface="Inter"/>
              </a:rPr>
              <a:t>Data Visualisation</a:t>
            </a:r>
          </a:p>
        </p:txBody>
      </p:sp>
      <p:grpSp>
        <p:nvGrpSpPr>
          <p:cNvPr id="27" name="Group 27"/>
          <p:cNvGrpSpPr/>
          <p:nvPr/>
        </p:nvGrpSpPr>
        <p:grpSpPr>
          <a:xfrm>
            <a:off x="12615176" y="6612344"/>
            <a:ext cx="341298" cy="341298"/>
            <a:chOff x="0" y="0"/>
            <a:chExt cx="812800" cy="812800"/>
          </a:xfrm>
        </p:grpSpPr>
        <p:sp>
          <p:nvSpPr>
            <p:cNvPr id="28" name="Freeform 28"/>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id="29" name="TextBox 29"/>
            <p:cNvSpPr txBox="1"/>
            <p:nvPr/>
          </p:nvSpPr>
          <p:spPr>
            <a:xfrm>
              <a:off x="203200" y="-38100"/>
              <a:ext cx="406400" cy="74930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8830195" y="7106042"/>
            <a:ext cx="7944543" cy="372745"/>
          </a:xfrm>
          <a:prstGeom prst="rect">
            <a:avLst/>
          </a:prstGeom>
        </p:spPr>
        <p:txBody>
          <a:bodyPr lIns="0" tIns="0" rIns="0" bIns="0" rtlCol="0" anchor="t">
            <a:spAutoFit/>
          </a:bodyPr>
          <a:lstStyle/>
          <a:p>
            <a:pPr algn="ctr">
              <a:lnSpc>
                <a:spcPts val="3079"/>
              </a:lnSpc>
              <a:spcBef>
                <a:spcPct val="0"/>
              </a:spcBef>
            </a:pPr>
            <a:r>
              <a:rPr lang="en-US" sz="2199">
                <a:solidFill>
                  <a:srgbClr val="FFFFFF"/>
                </a:solidFill>
                <a:latin typeface="Inter"/>
                <a:ea typeface="Inter"/>
                <a:cs typeface="Inter"/>
                <a:sym typeface="Inter"/>
              </a:rPr>
              <a:t>Dashboard / Report</a:t>
            </a:r>
          </a:p>
        </p:txBody>
      </p:sp>
      <p:grpSp>
        <p:nvGrpSpPr>
          <p:cNvPr id="31" name="Group 31"/>
          <p:cNvGrpSpPr/>
          <p:nvPr/>
        </p:nvGrpSpPr>
        <p:grpSpPr>
          <a:xfrm>
            <a:off x="12615176" y="7669287"/>
            <a:ext cx="341298" cy="341298"/>
            <a:chOff x="0" y="0"/>
            <a:chExt cx="812800" cy="812800"/>
          </a:xfrm>
        </p:grpSpPr>
        <p:sp>
          <p:nvSpPr>
            <p:cNvPr id="32" name="Freeform 32"/>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id="33" name="TextBox 33"/>
            <p:cNvSpPr txBox="1"/>
            <p:nvPr/>
          </p:nvSpPr>
          <p:spPr>
            <a:xfrm>
              <a:off x="203200" y="-38100"/>
              <a:ext cx="406400" cy="749300"/>
            </a:xfrm>
            <a:prstGeom prst="rect">
              <a:avLst/>
            </a:prstGeom>
          </p:spPr>
          <p:txBody>
            <a:bodyPr lIns="50800" tIns="50800" rIns="50800" bIns="50800" rtlCol="0" anchor="ctr"/>
            <a:lstStyle/>
            <a:p>
              <a:pPr algn="ctr">
                <a:lnSpc>
                  <a:spcPts val="2659"/>
                </a:lnSpc>
              </a:pPr>
              <a:endParaRPr/>
            </a:p>
          </p:txBody>
        </p:sp>
      </p:grpSp>
      <p:sp>
        <p:nvSpPr>
          <p:cNvPr id="34" name="TextBox 34"/>
          <p:cNvSpPr txBox="1"/>
          <p:nvPr/>
        </p:nvSpPr>
        <p:spPr>
          <a:xfrm>
            <a:off x="8863368" y="8162985"/>
            <a:ext cx="7944543" cy="372745"/>
          </a:xfrm>
          <a:prstGeom prst="rect">
            <a:avLst/>
          </a:prstGeom>
        </p:spPr>
        <p:txBody>
          <a:bodyPr lIns="0" tIns="0" rIns="0" bIns="0" rtlCol="0" anchor="t">
            <a:spAutoFit/>
          </a:bodyPr>
          <a:lstStyle/>
          <a:p>
            <a:pPr algn="ctr">
              <a:lnSpc>
                <a:spcPts val="3079"/>
              </a:lnSpc>
              <a:spcBef>
                <a:spcPct val="0"/>
              </a:spcBef>
            </a:pPr>
            <a:r>
              <a:rPr lang="en-US" sz="2199">
                <a:solidFill>
                  <a:srgbClr val="FFFFFF"/>
                </a:solidFill>
                <a:latin typeface="Inter"/>
                <a:ea typeface="Inter"/>
                <a:cs typeface="Inter"/>
                <a:sym typeface="Inter"/>
              </a:rPr>
              <a:t>Insights &amp; Business Recommendations</a:t>
            </a:r>
          </a:p>
        </p:txBody>
      </p:sp>
      <p:grpSp>
        <p:nvGrpSpPr>
          <p:cNvPr id="35" name="Group 35"/>
          <p:cNvGrpSpPr/>
          <p:nvPr/>
        </p:nvGrpSpPr>
        <p:grpSpPr>
          <a:xfrm>
            <a:off x="2169798" y="3565646"/>
            <a:ext cx="4163029" cy="588610"/>
            <a:chOff x="0" y="0"/>
            <a:chExt cx="1096436" cy="155025"/>
          </a:xfrm>
        </p:grpSpPr>
        <p:sp>
          <p:nvSpPr>
            <p:cNvPr id="36" name="Freeform 36"/>
            <p:cNvSpPr/>
            <p:nvPr/>
          </p:nvSpPr>
          <p:spPr>
            <a:xfrm>
              <a:off x="0" y="0"/>
              <a:ext cx="1096436" cy="155025"/>
            </a:xfrm>
            <a:custGeom>
              <a:avLst/>
              <a:gdLst/>
              <a:ahLst/>
              <a:cxnLst/>
              <a:rect l="l" t="t" r="r" b="b"/>
              <a:pathLst>
                <a:path w="1096436" h="155025">
                  <a:moveTo>
                    <a:pt x="77512" y="0"/>
                  </a:moveTo>
                  <a:lnTo>
                    <a:pt x="1018923" y="0"/>
                  </a:lnTo>
                  <a:cubicBezTo>
                    <a:pt x="1061732" y="0"/>
                    <a:pt x="1096436" y="34703"/>
                    <a:pt x="1096436" y="77512"/>
                  </a:cubicBezTo>
                  <a:lnTo>
                    <a:pt x="1096436" y="77512"/>
                  </a:lnTo>
                  <a:cubicBezTo>
                    <a:pt x="1096436" y="120321"/>
                    <a:pt x="1061732" y="155025"/>
                    <a:pt x="1018923" y="155025"/>
                  </a:cubicBezTo>
                  <a:lnTo>
                    <a:pt x="77512" y="155025"/>
                  </a:lnTo>
                  <a:cubicBezTo>
                    <a:pt x="34703" y="155025"/>
                    <a:pt x="0" y="120321"/>
                    <a:pt x="0" y="77512"/>
                  </a:cubicBezTo>
                  <a:lnTo>
                    <a:pt x="0" y="77512"/>
                  </a:lnTo>
                  <a:cubicBezTo>
                    <a:pt x="0" y="34703"/>
                    <a:pt x="34703" y="0"/>
                    <a:pt x="77512" y="0"/>
                  </a:cubicBezTo>
                  <a:close/>
                </a:path>
              </a:pathLst>
            </a:custGeom>
            <a:solidFill>
              <a:srgbClr val="F26B0F"/>
            </a:solidFill>
          </p:spPr>
        </p:sp>
        <p:sp>
          <p:nvSpPr>
            <p:cNvPr id="37" name="TextBox 37"/>
            <p:cNvSpPr txBox="1"/>
            <p:nvPr/>
          </p:nvSpPr>
          <p:spPr>
            <a:xfrm>
              <a:off x="0" y="-38100"/>
              <a:ext cx="1096436" cy="193125"/>
            </a:xfrm>
            <a:prstGeom prst="rect">
              <a:avLst/>
            </a:prstGeom>
          </p:spPr>
          <p:txBody>
            <a:bodyPr lIns="50800" tIns="50800" rIns="50800" bIns="50800" rtlCol="0" anchor="ctr"/>
            <a:lstStyle/>
            <a:p>
              <a:pPr marL="0" lvl="0" indent="0" algn="ctr">
                <a:lnSpc>
                  <a:spcPts val="2659"/>
                </a:lnSpc>
              </a:pPr>
              <a:endParaRPr/>
            </a:p>
          </p:txBody>
        </p:sp>
      </p:grpSp>
      <p:sp>
        <p:nvSpPr>
          <p:cNvPr id="38" name="TextBox 38"/>
          <p:cNvSpPr txBox="1"/>
          <p:nvPr/>
        </p:nvSpPr>
        <p:spPr>
          <a:xfrm>
            <a:off x="2972284" y="3649285"/>
            <a:ext cx="2558058" cy="389255"/>
          </a:xfrm>
          <a:prstGeom prst="rect">
            <a:avLst/>
          </a:prstGeom>
        </p:spPr>
        <p:txBody>
          <a:bodyPr lIns="0" tIns="0" rIns="0" bIns="0" rtlCol="0" anchor="t">
            <a:spAutoFit/>
          </a:bodyPr>
          <a:lstStyle/>
          <a:p>
            <a:pPr algn="ctr">
              <a:lnSpc>
                <a:spcPts val="3219"/>
              </a:lnSpc>
              <a:spcBef>
                <a:spcPct val="0"/>
              </a:spcBef>
            </a:pPr>
            <a:r>
              <a:rPr lang="en-US" sz="2299" b="1" u="sng" dirty="0">
                <a:solidFill>
                  <a:srgbClr val="FFFFFF"/>
                </a:solidFill>
                <a:latin typeface="Inter Bold"/>
                <a:ea typeface="Inter Bold"/>
                <a:cs typeface="Inter Bold"/>
                <a:sym typeface="Inter Bold"/>
              </a:rPr>
              <a:t>Dataset Overview</a:t>
            </a:r>
          </a:p>
        </p:txBody>
      </p:sp>
      <p:grpSp>
        <p:nvGrpSpPr>
          <p:cNvPr id="39" name="Group 39"/>
          <p:cNvGrpSpPr/>
          <p:nvPr/>
        </p:nvGrpSpPr>
        <p:grpSpPr>
          <a:xfrm>
            <a:off x="3112816" y="607771"/>
            <a:ext cx="250395" cy="250395"/>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id="41" name="TextBox 4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grpSp>
        <p:nvGrpSpPr>
          <p:cNvPr id="2" name="Group 2"/>
          <p:cNvGrpSpPr/>
          <p:nvPr/>
        </p:nvGrpSpPr>
        <p:grpSpPr>
          <a:xfrm>
            <a:off x="-1134441" y="0"/>
            <a:ext cx="20556882" cy="10287000"/>
            <a:chOff x="0" y="0"/>
            <a:chExt cx="27409176"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3693176"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a:off x="317923" y="1635105"/>
            <a:ext cx="13961018" cy="6649071"/>
            <a:chOff x="0" y="0"/>
            <a:chExt cx="3676976" cy="1751196"/>
          </a:xfrm>
        </p:grpSpPr>
        <p:sp>
          <p:nvSpPr>
            <p:cNvPr id="6" name="Freeform 6"/>
            <p:cNvSpPr/>
            <p:nvPr/>
          </p:nvSpPr>
          <p:spPr>
            <a:xfrm>
              <a:off x="0" y="0"/>
              <a:ext cx="3676976" cy="1751196"/>
            </a:xfrm>
            <a:custGeom>
              <a:avLst/>
              <a:gdLst/>
              <a:ahLst/>
              <a:cxnLst/>
              <a:rect l="l" t="t" r="r" b="b"/>
              <a:pathLst>
                <a:path w="3676976" h="1751196">
                  <a:moveTo>
                    <a:pt x="33272" y="0"/>
                  </a:moveTo>
                  <a:lnTo>
                    <a:pt x="3643704" y="0"/>
                  </a:lnTo>
                  <a:cubicBezTo>
                    <a:pt x="3662080" y="0"/>
                    <a:pt x="3676976" y="14897"/>
                    <a:pt x="3676976" y="33272"/>
                  </a:cubicBezTo>
                  <a:lnTo>
                    <a:pt x="3676976" y="1717923"/>
                  </a:lnTo>
                  <a:cubicBezTo>
                    <a:pt x="3676976" y="1736299"/>
                    <a:pt x="3662080" y="1751196"/>
                    <a:pt x="3643704" y="1751196"/>
                  </a:cubicBezTo>
                  <a:lnTo>
                    <a:pt x="33272" y="1751196"/>
                  </a:lnTo>
                  <a:cubicBezTo>
                    <a:pt x="14897" y="1751196"/>
                    <a:pt x="0" y="1736299"/>
                    <a:pt x="0" y="1717923"/>
                  </a:cubicBezTo>
                  <a:lnTo>
                    <a:pt x="0" y="33272"/>
                  </a:lnTo>
                  <a:cubicBezTo>
                    <a:pt x="0" y="14897"/>
                    <a:pt x="14897" y="0"/>
                    <a:pt x="33272" y="0"/>
                  </a:cubicBezTo>
                  <a:close/>
                </a:path>
              </a:pathLst>
            </a:custGeom>
            <a:solidFill>
              <a:srgbClr val="F26B0F"/>
            </a:solidFill>
          </p:spPr>
        </p:sp>
        <p:sp>
          <p:nvSpPr>
            <p:cNvPr id="7" name="TextBox 7"/>
            <p:cNvSpPr txBox="1"/>
            <p:nvPr/>
          </p:nvSpPr>
          <p:spPr>
            <a:xfrm>
              <a:off x="0" y="-38100"/>
              <a:ext cx="3676976" cy="1789296"/>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2889006" y="9258300"/>
            <a:ext cx="24066013" cy="1630186"/>
            <a:chOff x="0" y="0"/>
            <a:chExt cx="6338374" cy="429349"/>
          </a:xfrm>
        </p:grpSpPr>
        <p:sp>
          <p:nvSpPr>
            <p:cNvPr id="9" name="Freeform 9"/>
            <p:cNvSpPr/>
            <p:nvPr/>
          </p:nvSpPr>
          <p:spPr>
            <a:xfrm>
              <a:off x="0" y="0"/>
              <a:ext cx="6338374" cy="429349"/>
            </a:xfrm>
            <a:custGeom>
              <a:avLst/>
              <a:gdLst/>
              <a:ahLst/>
              <a:cxnLst/>
              <a:rect l="l" t="t" r="r" b="b"/>
              <a:pathLst>
                <a:path w="6338374" h="429349">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id="10" name="TextBox 10"/>
            <p:cNvSpPr txBox="1"/>
            <p:nvPr/>
          </p:nvSpPr>
          <p:spPr>
            <a:xfrm>
              <a:off x="594223" y="2152"/>
              <a:ext cx="5149929" cy="386946"/>
            </a:xfrm>
            <a:prstGeom prst="rect">
              <a:avLst/>
            </a:prstGeom>
          </p:spPr>
          <p:txBody>
            <a:bodyPr lIns="50800" tIns="50800" rIns="50800" bIns="50800" rtlCol="0" anchor="ctr"/>
            <a:lstStyle/>
            <a:p>
              <a:pPr marL="0" lvl="0" indent="0" algn="ctr">
                <a:lnSpc>
                  <a:spcPts val="2659"/>
                </a:lnSpc>
              </a:pPr>
              <a:endParaRPr/>
            </a:p>
          </p:txBody>
        </p:sp>
      </p:grpSp>
      <p:sp>
        <p:nvSpPr>
          <p:cNvPr id="11" name="TextBox 11"/>
          <p:cNvSpPr txBox="1"/>
          <p:nvPr/>
        </p:nvSpPr>
        <p:spPr>
          <a:xfrm>
            <a:off x="1903507" y="353970"/>
            <a:ext cx="13926768" cy="1191161"/>
          </a:xfrm>
          <a:prstGeom prst="rect">
            <a:avLst/>
          </a:prstGeom>
        </p:spPr>
        <p:txBody>
          <a:bodyPr lIns="0" tIns="0" rIns="0" bIns="0" rtlCol="0" anchor="t">
            <a:spAutoFit/>
          </a:bodyPr>
          <a:lstStyle/>
          <a:p>
            <a:pPr algn="l">
              <a:lnSpc>
                <a:spcPts val="4516"/>
              </a:lnSpc>
            </a:pPr>
            <a:r>
              <a:rPr lang="en-US" sz="4705">
                <a:solidFill>
                  <a:srgbClr val="FFFFFF"/>
                </a:solidFill>
                <a:latin typeface="Lilita One"/>
                <a:ea typeface="Lilita One"/>
                <a:cs typeface="Lilita One"/>
                <a:sym typeface="Lilita One"/>
              </a:rPr>
              <a:t>DATA TRANSFORMATION </a:t>
            </a:r>
          </a:p>
          <a:p>
            <a:pPr marL="0" lvl="0" indent="0" algn="l">
              <a:lnSpc>
                <a:spcPts val="4516"/>
              </a:lnSpc>
            </a:pPr>
            <a:endParaRPr lang="en-US" sz="4705">
              <a:solidFill>
                <a:srgbClr val="FFFFFF"/>
              </a:solidFill>
              <a:latin typeface="Lilita One"/>
              <a:ea typeface="Lilita One"/>
              <a:cs typeface="Lilita One"/>
              <a:sym typeface="Lilita One"/>
            </a:endParaRPr>
          </a:p>
        </p:txBody>
      </p:sp>
      <p:sp>
        <p:nvSpPr>
          <p:cNvPr id="12" name="Freeform 12"/>
          <p:cNvSpPr/>
          <p:nvPr/>
        </p:nvSpPr>
        <p:spPr>
          <a:xfrm rot="-6189716">
            <a:off x="15197985" y="-628211"/>
            <a:ext cx="1571284" cy="2252737"/>
          </a:xfrm>
          <a:custGeom>
            <a:avLst/>
            <a:gdLst/>
            <a:ahLst/>
            <a:cxnLst/>
            <a:rect l="l" t="t" r="r" b="b"/>
            <a:pathLst>
              <a:path w="1571284" h="2252737">
                <a:moveTo>
                  <a:pt x="0" y="0"/>
                </a:moveTo>
                <a:lnTo>
                  <a:pt x="1571284" y="0"/>
                </a:lnTo>
                <a:lnTo>
                  <a:pt x="1571284" y="2252737"/>
                </a:lnTo>
                <a:lnTo>
                  <a:pt x="0" y="225273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a:off x="14419324" y="1519640"/>
            <a:ext cx="3349283" cy="2552883"/>
          </a:xfrm>
          <a:custGeom>
            <a:avLst/>
            <a:gdLst/>
            <a:ahLst/>
            <a:cxnLst/>
            <a:rect l="l" t="t" r="r" b="b"/>
            <a:pathLst>
              <a:path w="3349283" h="2552883">
                <a:moveTo>
                  <a:pt x="0" y="0"/>
                </a:moveTo>
                <a:lnTo>
                  <a:pt x="3349283" y="0"/>
                </a:lnTo>
                <a:lnTo>
                  <a:pt x="3349283" y="2552883"/>
                </a:lnTo>
                <a:lnTo>
                  <a:pt x="0" y="255288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a:off x="4374540" y="4125967"/>
            <a:ext cx="9471608" cy="3360149"/>
          </a:xfrm>
          <a:custGeom>
            <a:avLst/>
            <a:gdLst/>
            <a:ahLst/>
            <a:cxnLst/>
            <a:rect l="l" t="t" r="r" b="b"/>
            <a:pathLst>
              <a:path w="9471608" h="3360149">
                <a:moveTo>
                  <a:pt x="0" y="0"/>
                </a:moveTo>
                <a:lnTo>
                  <a:pt x="9471608" y="0"/>
                </a:lnTo>
                <a:lnTo>
                  <a:pt x="9471608" y="3360149"/>
                </a:lnTo>
                <a:lnTo>
                  <a:pt x="0" y="3360149"/>
                </a:lnTo>
                <a:lnTo>
                  <a:pt x="0" y="0"/>
                </a:lnTo>
                <a:close/>
              </a:path>
            </a:pathLst>
          </a:custGeom>
          <a:blipFill>
            <a:blip r:embed="rId5"/>
            <a:stretch>
              <a:fillRect t="-871" b="-22175"/>
            </a:stretch>
          </a:blipFill>
        </p:spPr>
      </p:sp>
      <p:sp>
        <p:nvSpPr>
          <p:cNvPr id="15" name="Freeform 15"/>
          <p:cNvSpPr/>
          <p:nvPr/>
        </p:nvSpPr>
        <p:spPr>
          <a:xfrm>
            <a:off x="933927" y="4138912"/>
            <a:ext cx="1993916" cy="3334258"/>
          </a:xfrm>
          <a:custGeom>
            <a:avLst/>
            <a:gdLst/>
            <a:ahLst/>
            <a:cxnLst/>
            <a:rect l="l" t="t" r="r" b="b"/>
            <a:pathLst>
              <a:path w="1993916" h="3334258">
                <a:moveTo>
                  <a:pt x="0" y="0"/>
                </a:moveTo>
                <a:lnTo>
                  <a:pt x="1993916" y="0"/>
                </a:lnTo>
                <a:lnTo>
                  <a:pt x="1993916" y="3334259"/>
                </a:lnTo>
                <a:lnTo>
                  <a:pt x="0" y="3334259"/>
                </a:lnTo>
                <a:lnTo>
                  <a:pt x="0" y="0"/>
                </a:lnTo>
                <a:close/>
              </a:path>
            </a:pathLst>
          </a:custGeom>
          <a:blipFill>
            <a:blip r:embed="rId6"/>
            <a:stretch>
              <a:fillRect l="-6649" t="-6036" r="-118896" b="-6036"/>
            </a:stretch>
          </a:blipFill>
        </p:spPr>
      </p:sp>
      <p:grpSp>
        <p:nvGrpSpPr>
          <p:cNvPr id="16" name="Group 16"/>
          <p:cNvGrpSpPr/>
          <p:nvPr/>
        </p:nvGrpSpPr>
        <p:grpSpPr>
          <a:xfrm>
            <a:off x="3068226" y="5573299"/>
            <a:ext cx="1239017" cy="439593"/>
            <a:chOff x="0" y="0"/>
            <a:chExt cx="1488742" cy="528193"/>
          </a:xfrm>
        </p:grpSpPr>
        <p:sp>
          <p:nvSpPr>
            <p:cNvPr id="17" name="Freeform 17"/>
            <p:cNvSpPr/>
            <p:nvPr/>
          </p:nvSpPr>
          <p:spPr>
            <a:xfrm>
              <a:off x="0" y="0"/>
              <a:ext cx="1488742" cy="528193"/>
            </a:xfrm>
            <a:custGeom>
              <a:avLst/>
              <a:gdLst/>
              <a:ahLst/>
              <a:cxnLst/>
              <a:rect l="l" t="t" r="r" b="b"/>
              <a:pathLst>
                <a:path w="1488742" h="528193">
                  <a:moveTo>
                    <a:pt x="1488742" y="264096"/>
                  </a:moveTo>
                  <a:lnTo>
                    <a:pt x="1082342" y="0"/>
                  </a:lnTo>
                  <a:lnTo>
                    <a:pt x="1082342" y="203200"/>
                  </a:lnTo>
                  <a:lnTo>
                    <a:pt x="0" y="203200"/>
                  </a:lnTo>
                  <a:lnTo>
                    <a:pt x="0" y="324993"/>
                  </a:lnTo>
                  <a:lnTo>
                    <a:pt x="1082342" y="324993"/>
                  </a:lnTo>
                  <a:lnTo>
                    <a:pt x="1082342" y="528193"/>
                  </a:lnTo>
                  <a:lnTo>
                    <a:pt x="1488742" y="264096"/>
                  </a:lnTo>
                  <a:close/>
                </a:path>
              </a:pathLst>
            </a:custGeom>
            <a:solidFill>
              <a:srgbClr val="000000"/>
            </a:solidFill>
          </p:spPr>
        </p:sp>
        <p:sp>
          <p:nvSpPr>
            <p:cNvPr id="18" name="TextBox 18"/>
            <p:cNvSpPr txBox="1"/>
            <p:nvPr/>
          </p:nvSpPr>
          <p:spPr>
            <a:xfrm>
              <a:off x="0" y="165100"/>
              <a:ext cx="1387142" cy="159893"/>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104222" y="498158"/>
            <a:ext cx="238388" cy="238388"/>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id="21" name="TextBox 2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2" name="Freeform 22"/>
          <p:cNvSpPr/>
          <p:nvPr/>
        </p:nvSpPr>
        <p:spPr>
          <a:xfrm>
            <a:off x="15568235" y="5033487"/>
            <a:ext cx="1504027" cy="1519219"/>
          </a:xfrm>
          <a:custGeom>
            <a:avLst/>
            <a:gdLst/>
            <a:ahLst/>
            <a:cxnLst/>
            <a:rect l="l" t="t" r="r" b="b"/>
            <a:pathLst>
              <a:path w="1504027" h="1519219">
                <a:moveTo>
                  <a:pt x="0" y="0"/>
                </a:moveTo>
                <a:lnTo>
                  <a:pt x="1504027" y="0"/>
                </a:lnTo>
                <a:lnTo>
                  <a:pt x="1504027" y="1519219"/>
                </a:lnTo>
                <a:lnTo>
                  <a:pt x="0" y="151921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3" name="TextBox 23"/>
          <p:cNvSpPr txBox="1"/>
          <p:nvPr/>
        </p:nvSpPr>
        <p:spPr>
          <a:xfrm>
            <a:off x="1342610" y="2783566"/>
            <a:ext cx="10116986" cy="762068"/>
          </a:xfrm>
          <a:prstGeom prst="rect">
            <a:avLst/>
          </a:prstGeom>
        </p:spPr>
        <p:txBody>
          <a:bodyPr wrap="square" lIns="0" tIns="0" rIns="0" bIns="0" rtlCol="0" anchor="t">
            <a:spAutoFit/>
          </a:bodyPr>
          <a:lstStyle/>
          <a:p>
            <a:pPr algn="l">
              <a:lnSpc>
                <a:spcPts val="3079"/>
              </a:lnSpc>
            </a:pPr>
            <a:r>
              <a:rPr lang="en-US" sz="2199" b="1" dirty="0">
                <a:solidFill>
                  <a:srgbClr val="FFFFFF"/>
                </a:solidFill>
                <a:latin typeface="Inter Bold"/>
                <a:ea typeface="Inter Bold"/>
                <a:cs typeface="Inter Bold"/>
                <a:sym typeface="Inter Bold"/>
              </a:rPr>
              <a:t>Converted the Attrition column from text values (Yes/No)</a:t>
            </a:r>
          </a:p>
          <a:p>
            <a:pPr algn="l">
              <a:lnSpc>
                <a:spcPts val="3079"/>
              </a:lnSpc>
              <a:spcBef>
                <a:spcPct val="0"/>
              </a:spcBef>
            </a:pPr>
            <a:r>
              <a:rPr lang="en-US" sz="2199" b="1" dirty="0">
                <a:solidFill>
                  <a:srgbClr val="FFFFFF"/>
                </a:solidFill>
                <a:latin typeface="Inter Bold"/>
                <a:ea typeface="Inter Bold"/>
                <a:cs typeface="Inter Bold"/>
                <a:sym typeface="Inter Bold"/>
              </a:rPr>
              <a:t> into numeric binary format (1/0) to enable calculations and measures.</a:t>
            </a:r>
          </a:p>
        </p:txBody>
      </p:sp>
      <p:sp>
        <p:nvSpPr>
          <p:cNvPr id="24" name="TextBox 24"/>
          <p:cNvSpPr txBox="1"/>
          <p:nvPr/>
        </p:nvSpPr>
        <p:spPr>
          <a:xfrm>
            <a:off x="790138" y="1731755"/>
            <a:ext cx="6691469" cy="424603"/>
          </a:xfrm>
          <a:prstGeom prst="rect">
            <a:avLst/>
          </a:prstGeom>
        </p:spPr>
        <p:txBody>
          <a:bodyPr wrap="square" lIns="0" tIns="0" rIns="0" bIns="0" rtlCol="0" anchor="t">
            <a:spAutoFit/>
          </a:bodyPr>
          <a:lstStyle/>
          <a:p>
            <a:pPr>
              <a:lnSpc>
                <a:spcPts val="3639"/>
              </a:lnSpc>
              <a:spcBef>
                <a:spcPct val="0"/>
              </a:spcBef>
            </a:pPr>
            <a:r>
              <a:rPr lang="en-US" sz="2599" b="1" dirty="0">
                <a:solidFill>
                  <a:srgbClr val="FFFFFF"/>
                </a:solidFill>
                <a:latin typeface="Inter Bold"/>
                <a:ea typeface="Inter Bold"/>
                <a:cs typeface="Inter Bold"/>
                <a:sym typeface="Inter Bold"/>
              </a:rPr>
              <a:t>• Conditional Column Transformation</a:t>
            </a:r>
          </a:p>
        </p:txBody>
      </p:sp>
      <p:sp>
        <p:nvSpPr>
          <p:cNvPr id="25" name="TextBox 25"/>
          <p:cNvSpPr txBox="1"/>
          <p:nvPr/>
        </p:nvSpPr>
        <p:spPr>
          <a:xfrm>
            <a:off x="4200203" y="2270259"/>
            <a:ext cx="5080202" cy="399405"/>
          </a:xfrm>
          <a:prstGeom prst="rect">
            <a:avLst/>
          </a:prstGeom>
        </p:spPr>
        <p:txBody>
          <a:bodyPr wrap="square" lIns="0" tIns="0" rIns="0" bIns="0" rtlCol="0" anchor="t">
            <a:spAutoFit/>
          </a:bodyPr>
          <a:lstStyle/>
          <a:p>
            <a:pPr algn="ctr">
              <a:lnSpc>
                <a:spcPts val="3359"/>
              </a:lnSpc>
              <a:spcBef>
                <a:spcPct val="0"/>
              </a:spcBef>
            </a:pPr>
            <a:r>
              <a:rPr lang="en-US" sz="2399" b="1" dirty="0">
                <a:solidFill>
                  <a:srgbClr val="FFFFFF"/>
                </a:solidFill>
                <a:latin typeface="Inter Bold"/>
                <a:ea typeface="Inter Bold"/>
                <a:cs typeface="Inter Bold"/>
                <a:sym typeface="Inter Bold"/>
              </a:rPr>
              <a:t>1) Attrition to </a:t>
            </a:r>
            <a:r>
              <a:rPr lang="en-US" sz="2399" b="1" dirty="0" err="1">
                <a:solidFill>
                  <a:srgbClr val="FFFFFF"/>
                </a:solidFill>
                <a:latin typeface="Inter Bold"/>
                <a:ea typeface="Inter Bold"/>
                <a:cs typeface="Inter Bold"/>
                <a:sym typeface="Inter Bold"/>
              </a:rPr>
              <a:t>Attiriton</a:t>
            </a:r>
            <a:r>
              <a:rPr lang="en-US" sz="2399" b="1" dirty="0">
                <a:solidFill>
                  <a:srgbClr val="FFFFFF"/>
                </a:solidFill>
                <a:latin typeface="Inter Bold"/>
                <a:ea typeface="Inter Bold"/>
                <a:cs typeface="Inter Bold"/>
                <a:sym typeface="Inter Bold"/>
              </a:rPr>
              <a:t> count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sp>
        <p:nvSpPr>
          <p:cNvPr id="2" name="Freeform 2"/>
          <p:cNvSpPr/>
          <p:nvPr/>
        </p:nvSpPr>
        <p:spPr>
          <a:xfrm>
            <a:off x="-982041" y="15240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9287841" y="15240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0" y="685892"/>
            <a:ext cx="14431341" cy="7459573"/>
            <a:chOff x="0" y="0"/>
            <a:chExt cx="3800847" cy="1964661"/>
          </a:xfrm>
        </p:grpSpPr>
        <p:sp>
          <p:nvSpPr>
            <p:cNvPr id="5" name="Freeform 5"/>
            <p:cNvSpPr/>
            <p:nvPr/>
          </p:nvSpPr>
          <p:spPr>
            <a:xfrm>
              <a:off x="0" y="0"/>
              <a:ext cx="3800847" cy="1964661"/>
            </a:xfrm>
            <a:custGeom>
              <a:avLst/>
              <a:gdLst/>
              <a:ahLst/>
              <a:cxnLst/>
              <a:rect l="l" t="t" r="r" b="b"/>
              <a:pathLst>
                <a:path w="3800847" h="1964661">
                  <a:moveTo>
                    <a:pt x="34334" y="0"/>
                  </a:moveTo>
                  <a:lnTo>
                    <a:pt x="3766513" y="0"/>
                  </a:lnTo>
                  <a:cubicBezTo>
                    <a:pt x="3775619" y="0"/>
                    <a:pt x="3784352" y="3617"/>
                    <a:pt x="3790791" y="10056"/>
                  </a:cubicBezTo>
                  <a:cubicBezTo>
                    <a:pt x="3797230" y="16495"/>
                    <a:pt x="3800847" y="25228"/>
                    <a:pt x="3800847" y="34334"/>
                  </a:cubicBezTo>
                  <a:lnTo>
                    <a:pt x="3800847" y="1930327"/>
                  </a:lnTo>
                  <a:cubicBezTo>
                    <a:pt x="3800847" y="1949289"/>
                    <a:pt x="3785475" y="1964661"/>
                    <a:pt x="3766513" y="1964661"/>
                  </a:cubicBezTo>
                  <a:lnTo>
                    <a:pt x="34334" y="1964661"/>
                  </a:lnTo>
                  <a:cubicBezTo>
                    <a:pt x="15372" y="1964661"/>
                    <a:pt x="0" y="1949289"/>
                    <a:pt x="0" y="1930327"/>
                  </a:cubicBezTo>
                  <a:lnTo>
                    <a:pt x="0" y="34334"/>
                  </a:lnTo>
                  <a:cubicBezTo>
                    <a:pt x="0" y="15372"/>
                    <a:pt x="15372" y="0"/>
                    <a:pt x="34334" y="0"/>
                  </a:cubicBezTo>
                  <a:close/>
                </a:path>
              </a:pathLst>
            </a:custGeom>
            <a:solidFill>
              <a:srgbClr val="F26B0F"/>
            </a:solidFill>
          </p:spPr>
        </p:sp>
        <p:sp>
          <p:nvSpPr>
            <p:cNvPr id="6" name="TextBox 6"/>
            <p:cNvSpPr txBox="1"/>
            <p:nvPr/>
          </p:nvSpPr>
          <p:spPr>
            <a:xfrm>
              <a:off x="0" y="-38100"/>
              <a:ext cx="3800847" cy="2002761"/>
            </a:xfrm>
            <a:prstGeom prst="rect">
              <a:avLst/>
            </a:prstGeom>
          </p:spPr>
          <p:txBody>
            <a:bodyPr lIns="50800" tIns="50800" rIns="50800" bIns="50800" rtlCol="0" anchor="ctr"/>
            <a:lstStyle/>
            <a:p>
              <a:pPr marL="0" lvl="0" indent="0" algn="ctr">
                <a:lnSpc>
                  <a:spcPts val="2659"/>
                </a:lnSpc>
              </a:pPr>
              <a:endParaRPr/>
            </a:p>
          </p:txBody>
        </p:sp>
      </p:grpSp>
      <p:sp>
        <p:nvSpPr>
          <p:cNvPr id="7" name="Freeform 7"/>
          <p:cNvSpPr/>
          <p:nvPr/>
        </p:nvSpPr>
        <p:spPr>
          <a:xfrm rot="-6189716">
            <a:off x="16226685" y="-104886"/>
            <a:ext cx="1571284" cy="2252737"/>
          </a:xfrm>
          <a:custGeom>
            <a:avLst/>
            <a:gdLst/>
            <a:ahLst/>
            <a:cxnLst/>
            <a:rect l="l" t="t" r="r" b="b"/>
            <a:pathLst>
              <a:path w="1571284" h="2252737">
                <a:moveTo>
                  <a:pt x="0" y="0"/>
                </a:moveTo>
                <a:lnTo>
                  <a:pt x="1571284" y="0"/>
                </a:lnTo>
                <a:lnTo>
                  <a:pt x="1571284" y="2252737"/>
                </a:lnTo>
                <a:lnTo>
                  <a:pt x="0" y="225273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4477369" y="2971435"/>
            <a:ext cx="9620943" cy="4648930"/>
          </a:xfrm>
          <a:custGeom>
            <a:avLst/>
            <a:gdLst/>
            <a:ahLst/>
            <a:cxnLst/>
            <a:rect l="l" t="t" r="r" b="b"/>
            <a:pathLst>
              <a:path w="9620943" h="4648930">
                <a:moveTo>
                  <a:pt x="0" y="0"/>
                </a:moveTo>
                <a:lnTo>
                  <a:pt x="9620943" y="0"/>
                </a:lnTo>
                <a:lnTo>
                  <a:pt x="9620943" y="4648930"/>
                </a:lnTo>
                <a:lnTo>
                  <a:pt x="0" y="4648930"/>
                </a:lnTo>
                <a:lnTo>
                  <a:pt x="0" y="0"/>
                </a:lnTo>
                <a:close/>
              </a:path>
            </a:pathLst>
          </a:custGeom>
          <a:blipFill>
            <a:blip r:embed="rId4"/>
            <a:stretch>
              <a:fillRect r="-5177" b="-9881"/>
            </a:stretch>
          </a:blipFill>
        </p:spPr>
      </p:sp>
      <p:sp>
        <p:nvSpPr>
          <p:cNvPr id="9" name="Freeform 9"/>
          <p:cNvSpPr/>
          <p:nvPr/>
        </p:nvSpPr>
        <p:spPr>
          <a:xfrm>
            <a:off x="519307" y="2998105"/>
            <a:ext cx="2530201" cy="4648930"/>
          </a:xfrm>
          <a:custGeom>
            <a:avLst/>
            <a:gdLst/>
            <a:ahLst/>
            <a:cxnLst/>
            <a:rect l="l" t="t" r="r" b="b"/>
            <a:pathLst>
              <a:path w="2530201" h="4648930">
                <a:moveTo>
                  <a:pt x="0" y="0"/>
                </a:moveTo>
                <a:lnTo>
                  <a:pt x="2530201" y="0"/>
                </a:lnTo>
                <a:lnTo>
                  <a:pt x="2530201" y="4648930"/>
                </a:lnTo>
                <a:lnTo>
                  <a:pt x="0" y="4648930"/>
                </a:lnTo>
                <a:lnTo>
                  <a:pt x="0" y="0"/>
                </a:lnTo>
                <a:close/>
              </a:path>
            </a:pathLst>
          </a:custGeom>
          <a:blipFill>
            <a:blip r:embed="rId5"/>
            <a:stretch>
              <a:fillRect l="-16570"/>
            </a:stretch>
          </a:blipFill>
        </p:spPr>
      </p:sp>
      <p:grpSp>
        <p:nvGrpSpPr>
          <p:cNvPr id="10" name="Group 10"/>
          <p:cNvGrpSpPr/>
          <p:nvPr/>
        </p:nvGrpSpPr>
        <p:grpSpPr>
          <a:xfrm>
            <a:off x="-2889006" y="9258300"/>
            <a:ext cx="24066013" cy="1630186"/>
            <a:chOff x="0" y="0"/>
            <a:chExt cx="6338374" cy="429349"/>
          </a:xfrm>
        </p:grpSpPr>
        <p:sp>
          <p:nvSpPr>
            <p:cNvPr id="11" name="Freeform 11"/>
            <p:cNvSpPr/>
            <p:nvPr/>
          </p:nvSpPr>
          <p:spPr>
            <a:xfrm>
              <a:off x="0" y="0"/>
              <a:ext cx="6338374" cy="429349"/>
            </a:xfrm>
            <a:custGeom>
              <a:avLst/>
              <a:gdLst/>
              <a:ahLst/>
              <a:cxnLst/>
              <a:rect l="l" t="t" r="r" b="b"/>
              <a:pathLst>
                <a:path w="6338374" h="429349">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id="12" name="TextBox 12"/>
            <p:cNvSpPr txBox="1"/>
            <p:nvPr/>
          </p:nvSpPr>
          <p:spPr>
            <a:xfrm>
              <a:off x="594223" y="2152"/>
              <a:ext cx="5149929" cy="386946"/>
            </a:xfrm>
            <a:prstGeom prst="rect">
              <a:avLst/>
            </a:prstGeom>
          </p:spPr>
          <p:txBody>
            <a:bodyPr lIns="50800" tIns="50800" rIns="50800" bIns="50800" rtlCol="0" anchor="ctr"/>
            <a:lstStyle/>
            <a:p>
              <a:pPr marL="0" lvl="0" indent="0" algn="ctr">
                <a:lnSpc>
                  <a:spcPts val="2659"/>
                </a:lnSpc>
              </a:pPr>
              <a:endParaRPr/>
            </a:p>
          </p:txBody>
        </p:sp>
      </p:grpSp>
      <p:grpSp>
        <p:nvGrpSpPr>
          <p:cNvPr id="13" name="Group 13"/>
          <p:cNvGrpSpPr/>
          <p:nvPr/>
        </p:nvGrpSpPr>
        <p:grpSpPr>
          <a:xfrm>
            <a:off x="3194950" y="4919181"/>
            <a:ext cx="1136976" cy="403389"/>
            <a:chOff x="0" y="0"/>
            <a:chExt cx="1488742" cy="528193"/>
          </a:xfrm>
        </p:grpSpPr>
        <p:sp>
          <p:nvSpPr>
            <p:cNvPr id="14" name="Freeform 14"/>
            <p:cNvSpPr/>
            <p:nvPr/>
          </p:nvSpPr>
          <p:spPr>
            <a:xfrm>
              <a:off x="0" y="0"/>
              <a:ext cx="1488742" cy="528193"/>
            </a:xfrm>
            <a:custGeom>
              <a:avLst/>
              <a:gdLst/>
              <a:ahLst/>
              <a:cxnLst/>
              <a:rect l="l" t="t" r="r" b="b"/>
              <a:pathLst>
                <a:path w="1488742" h="528193">
                  <a:moveTo>
                    <a:pt x="1488742" y="264096"/>
                  </a:moveTo>
                  <a:lnTo>
                    <a:pt x="1082342" y="0"/>
                  </a:lnTo>
                  <a:lnTo>
                    <a:pt x="1082342" y="203200"/>
                  </a:lnTo>
                  <a:lnTo>
                    <a:pt x="0" y="203200"/>
                  </a:lnTo>
                  <a:lnTo>
                    <a:pt x="0" y="324993"/>
                  </a:lnTo>
                  <a:lnTo>
                    <a:pt x="1082342" y="324993"/>
                  </a:lnTo>
                  <a:lnTo>
                    <a:pt x="1082342" y="528193"/>
                  </a:lnTo>
                  <a:lnTo>
                    <a:pt x="1488742" y="264096"/>
                  </a:lnTo>
                  <a:close/>
                </a:path>
              </a:pathLst>
            </a:custGeom>
            <a:solidFill>
              <a:srgbClr val="000000"/>
            </a:solidFill>
          </p:spPr>
        </p:sp>
        <p:sp>
          <p:nvSpPr>
            <p:cNvPr id="15" name="TextBox 15"/>
            <p:cNvSpPr txBox="1"/>
            <p:nvPr/>
          </p:nvSpPr>
          <p:spPr>
            <a:xfrm>
              <a:off x="0" y="165100"/>
              <a:ext cx="1387142" cy="1598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rot="-6506237">
            <a:off x="-63426" y="-669717"/>
            <a:ext cx="1068703" cy="1532191"/>
          </a:xfrm>
          <a:custGeom>
            <a:avLst/>
            <a:gdLst/>
            <a:ahLst/>
            <a:cxnLst/>
            <a:rect l="l" t="t" r="r" b="b"/>
            <a:pathLst>
              <a:path w="1068703" h="1532191">
                <a:moveTo>
                  <a:pt x="0" y="0"/>
                </a:moveTo>
                <a:lnTo>
                  <a:pt x="1068703" y="0"/>
                </a:lnTo>
                <a:lnTo>
                  <a:pt x="1068703" y="1532191"/>
                </a:lnTo>
                <a:lnTo>
                  <a:pt x="0" y="15321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7" name="Freeform 17"/>
          <p:cNvSpPr/>
          <p:nvPr/>
        </p:nvSpPr>
        <p:spPr>
          <a:xfrm>
            <a:off x="15479003" y="3383637"/>
            <a:ext cx="1533324" cy="1836316"/>
          </a:xfrm>
          <a:custGeom>
            <a:avLst/>
            <a:gdLst/>
            <a:ahLst/>
            <a:cxnLst/>
            <a:rect l="l" t="t" r="r" b="b"/>
            <a:pathLst>
              <a:path w="1533324" h="1836316">
                <a:moveTo>
                  <a:pt x="0" y="0"/>
                </a:moveTo>
                <a:lnTo>
                  <a:pt x="1533324" y="0"/>
                </a:lnTo>
                <a:lnTo>
                  <a:pt x="1533324" y="1836316"/>
                </a:lnTo>
                <a:lnTo>
                  <a:pt x="0" y="18363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TextBox 18"/>
          <p:cNvSpPr txBox="1"/>
          <p:nvPr/>
        </p:nvSpPr>
        <p:spPr>
          <a:xfrm>
            <a:off x="708707" y="1583190"/>
            <a:ext cx="10172637" cy="762068"/>
          </a:xfrm>
          <a:prstGeom prst="rect">
            <a:avLst/>
          </a:prstGeom>
        </p:spPr>
        <p:txBody>
          <a:bodyPr wrap="square" lIns="0" tIns="0" rIns="0" bIns="0" rtlCol="0" anchor="t">
            <a:spAutoFit/>
          </a:bodyPr>
          <a:lstStyle/>
          <a:p>
            <a:pPr algn="just">
              <a:lnSpc>
                <a:spcPts val="3079"/>
              </a:lnSpc>
              <a:spcBef>
                <a:spcPct val="0"/>
              </a:spcBef>
            </a:pPr>
            <a:r>
              <a:rPr lang="en-US" sz="2199" b="1" dirty="0">
                <a:solidFill>
                  <a:srgbClr val="FFFFFF"/>
                </a:solidFill>
                <a:latin typeface="Inter Bold"/>
                <a:ea typeface="Inter Bold"/>
                <a:cs typeface="Inter Bold"/>
                <a:sym typeface="Inter Bold"/>
              </a:rPr>
              <a:t>Created a new conditional column grouping employee salaries into slabs — </a:t>
            </a:r>
            <a:r>
              <a:rPr lang="en-US" sz="2199" b="1" dirty="0" err="1">
                <a:solidFill>
                  <a:srgbClr val="FFFFFF"/>
                </a:solidFill>
                <a:latin typeface="Inter Bold"/>
                <a:ea typeface="Inter Bold"/>
                <a:cs typeface="Inter Bold"/>
                <a:sym typeface="Inter Bold"/>
              </a:rPr>
              <a:t>Upto</a:t>
            </a:r>
            <a:r>
              <a:rPr lang="en-US" sz="2199" b="1" dirty="0">
                <a:solidFill>
                  <a:srgbClr val="FFFFFF"/>
                </a:solidFill>
                <a:latin typeface="Inter Bold"/>
                <a:ea typeface="Inter Bold"/>
                <a:cs typeface="Inter Bold"/>
                <a:sym typeface="Inter Bold"/>
              </a:rPr>
              <a:t> 5K, 5K-10K, 10K-15K, and 15K+ — for easier trend analysis.</a:t>
            </a:r>
          </a:p>
        </p:txBody>
      </p:sp>
      <p:sp>
        <p:nvSpPr>
          <p:cNvPr id="19" name="TextBox 19"/>
          <p:cNvSpPr txBox="1"/>
          <p:nvPr/>
        </p:nvSpPr>
        <p:spPr>
          <a:xfrm>
            <a:off x="-1612439" y="981075"/>
            <a:ext cx="9323894" cy="405765"/>
          </a:xfrm>
          <a:prstGeom prst="rect">
            <a:avLst/>
          </a:prstGeom>
        </p:spPr>
        <p:txBody>
          <a:bodyPr lIns="0" tIns="0" rIns="0" bIns="0" rtlCol="0" anchor="t">
            <a:spAutoFit/>
          </a:bodyPr>
          <a:lstStyle/>
          <a:p>
            <a:pPr algn="ctr">
              <a:lnSpc>
                <a:spcPts val="3359"/>
              </a:lnSpc>
              <a:spcBef>
                <a:spcPct val="0"/>
              </a:spcBef>
            </a:pPr>
            <a:r>
              <a:rPr lang="en-US" sz="2399" b="1">
                <a:solidFill>
                  <a:srgbClr val="FFFFFF"/>
                </a:solidFill>
                <a:latin typeface="Inter Bold"/>
                <a:ea typeface="Inter Bold"/>
                <a:cs typeface="Inter Bold"/>
                <a:sym typeface="Inter Bold"/>
              </a:rPr>
              <a:t>2) Monthly Income to Salary Slab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sp>
        <p:nvSpPr>
          <p:cNvPr id="2" name="Freeform 2"/>
          <p:cNvSpPr/>
          <p:nvPr/>
        </p:nvSpPr>
        <p:spPr>
          <a:xfrm>
            <a:off x="9063514" y="15240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982041" y="15240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0" y="804373"/>
            <a:ext cx="14207014" cy="7503965"/>
            <a:chOff x="0" y="0"/>
            <a:chExt cx="3834638" cy="2025179"/>
          </a:xfrm>
        </p:grpSpPr>
        <p:sp>
          <p:nvSpPr>
            <p:cNvPr id="5" name="Freeform 5"/>
            <p:cNvSpPr/>
            <p:nvPr/>
          </p:nvSpPr>
          <p:spPr>
            <a:xfrm>
              <a:off x="0" y="0"/>
              <a:ext cx="3834638" cy="2025179"/>
            </a:xfrm>
            <a:custGeom>
              <a:avLst/>
              <a:gdLst/>
              <a:ahLst/>
              <a:cxnLst/>
              <a:rect l="l" t="t" r="r" b="b"/>
              <a:pathLst>
                <a:path w="3834638" h="2025179">
                  <a:moveTo>
                    <a:pt x="3834638" y="54494"/>
                  </a:moveTo>
                  <a:lnTo>
                    <a:pt x="3834638" y="1970685"/>
                  </a:lnTo>
                  <a:cubicBezTo>
                    <a:pt x="3834638" y="1985138"/>
                    <a:pt x="3828897" y="1998998"/>
                    <a:pt x="3818677" y="2009218"/>
                  </a:cubicBezTo>
                  <a:cubicBezTo>
                    <a:pt x="3808458" y="2019437"/>
                    <a:pt x="3794597" y="2025179"/>
                    <a:pt x="3780144" y="2025179"/>
                  </a:cubicBezTo>
                  <a:lnTo>
                    <a:pt x="54494" y="2025179"/>
                  </a:lnTo>
                  <a:cubicBezTo>
                    <a:pt x="40041" y="2025179"/>
                    <a:pt x="26180" y="2019437"/>
                    <a:pt x="15961" y="2009218"/>
                  </a:cubicBezTo>
                  <a:cubicBezTo>
                    <a:pt x="5741" y="1998998"/>
                    <a:pt x="0" y="1985138"/>
                    <a:pt x="0" y="1970685"/>
                  </a:cubicBezTo>
                  <a:lnTo>
                    <a:pt x="0" y="54494"/>
                  </a:lnTo>
                  <a:cubicBezTo>
                    <a:pt x="0" y="40041"/>
                    <a:pt x="5741" y="26180"/>
                    <a:pt x="15961" y="15961"/>
                  </a:cubicBezTo>
                  <a:cubicBezTo>
                    <a:pt x="26180" y="5741"/>
                    <a:pt x="40041" y="0"/>
                    <a:pt x="54494" y="0"/>
                  </a:cubicBezTo>
                  <a:lnTo>
                    <a:pt x="3780144" y="0"/>
                  </a:lnTo>
                  <a:cubicBezTo>
                    <a:pt x="3794597" y="0"/>
                    <a:pt x="3808458" y="5741"/>
                    <a:pt x="3818677" y="15961"/>
                  </a:cubicBezTo>
                  <a:cubicBezTo>
                    <a:pt x="3828897" y="26180"/>
                    <a:pt x="3834638" y="40041"/>
                    <a:pt x="3834638" y="54494"/>
                  </a:cubicBezTo>
                  <a:close/>
                </a:path>
              </a:pathLst>
            </a:custGeom>
            <a:solidFill>
              <a:srgbClr val="F26B0F"/>
            </a:solidFill>
          </p:spPr>
        </p:sp>
        <p:sp>
          <p:nvSpPr>
            <p:cNvPr id="6" name="TextBox 6"/>
            <p:cNvSpPr txBox="1"/>
            <p:nvPr/>
          </p:nvSpPr>
          <p:spPr>
            <a:xfrm>
              <a:off x="0" y="-38100"/>
              <a:ext cx="3834638" cy="2063279"/>
            </a:xfrm>
            <a:prstGeom prst="rect">
              <a:avLst/>
            </a:prstGeom>
          </p:spPr>
          <p:txBody>
            <a:bodyPr lIns="50800" tIns="50800" rIns="50800" bIns="50800" rtlCol="0" anchor="ctr"/>
            <a:lstStyle/>
            <a:p>
              <a:pPr marL="0" lvl="0" indent="0" algn="ctr">
                <a:lnSpc>
                  <a:spcPts val="2659"/>
                </a:lnSpc>
              </a:pPr>
              <a:endParaRPr/>
            </a:p>
          </p:txBody>
        </p:sp>
      </p:grpSp>
      <p:sp>
        <p:nvSpPr>
          <p:cNvPr id="7" name="Freeform 7"/>
          <p:cNvSpPr/>
          <p:nvPr/>
        </p:nvSpPr>
        <p:spPr>
          <a:xfrm rot="-6189716">
            <a:off x="16226685" y="-104886"/>
            <a:ext cx="1571284" cy="2252737"/>
          </a:xfrm>
          <a:custGeom>
            <a:avLst/>
            <a:gdLst/>
            <a:ahLst/>
            <a:cxnLst/>
            <a:rect l="l" t="t" r="r" b="b"/>
            <a:pathLst>
              <a:path w="1571284" h="2252737">
                <a:moveTo>
                  <a:pt x="0" y="0"/>
                </a:moveTo>
                <a:lnTo>
                  <a:pt x="1571284" y="0"/>
                </a:lnTo>
                <a:lnTo>
                  <a:pt x="1571284" y="2252737"/>
                </a:lnTo>
                <a:lnTo>
                  <a:pt x="0" y="225273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2889006" y="9258300"/>
            <a:ext cx="24066013" cy="1630186"/>
            <a:chOff x="0" y="0"/>
            <a:chExt cx="6338374" cy="429349"/>
          </a:xfrm>
        </p:grpSpPr>
        <p:sp>
          <p:nvSpPr>
            <p:cNvPr id="9" name="Freeform 9"/>
            <p:cNvSpPr/>
            <p:nvPr/>
          </p:nvSpPr>
          <p:spPr>
            <a:xfrm>
              <a:off x="0" y="0"/>
              <a:ext cx="6338374" cy="429349"/>
            </a:xfrm>
            <a:custGeom>
              <a:avLst/>
              <a:gdLst/>
              <a:ahLst/>
              <a:cxnLst/>
              <a:rect l="l" t="t" r="r" b="b"/>
              <a:pathLst>
                <a:path w="6338374" h="429349">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id="10" name="TextBox 10"/>
            <p:cNvSpPr txBox="1"/>
            <p:nvPr/>
          </p:nvSpPr>
          <p:spPr>
            <a:xfrm>
              <a:off x="594223" y="2152"/>
              <a:ext cx="5149929" cy="38694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4735090" y="3025466"/>
            <a:ext cx="9170007" cy="4540869"/>
          </a:xfrm>
          <a:custGeom>
            <a:avLst/>
            <a:gdLst/>
            <a:ahLst/>
            <a:cxnLst/>
            <a:rect l="l" t="t" r="r" b="b"/>
            <a:pathLst>
              <a:path w="9170007" h="4540869">
                <a:moveTo>
                  <a:pt x="0" y="0"/>
                </a:moveTo>
                <a:lnTo>
                  <a:pt x="9170007" y="0"/>
                </a:lnTo>
                <a:lnTo>
                  <a:pt x="9170007" y="4540868"/>
                </a:lnTo>
                <a:lnTo>
                  <a:pt x="0" y="4540868"/>
                </a:lnTo>
                <a:lnTo>
                  <a:pt x="0" y="0"/>
                </a:lnTo>
                <a:close/>
              </a:path>
            </a:pathLst>
          </a:custGeom>
          <a:blipFill>
            <a:blip r:embed="rId4"/>
            <a:stretch>
              <a:fillRect b="-8127"/>
            </a:stretch>
          </a:blipFill>
        </p:spPr>
      </p:sp>
      <p:sp>
        <p:nvSpPr>
          <p:cNvPr id="12" name="Freeform 12"/>
          <p:cNvSpPr/>
          <p:nvPr/>
        </p:nvSpPr>
        <p:spPr>
          <a:xfrm>
            <a:off x="429523" y="2876490"/>
            <a:ext cx="2866674" cy="4707472"/>
          </a:xfrm>
          <a:custGeom>
            <a:avLst/>
            <a:gdLst/>
            <a:ahLst/>
            <a:cxnLst/>
            <a:rect l="l" t="t" r="r" b="b"/>
            <a:pathLst>
              <a:path w="2866674" h="4707472">
                <a:moveTo>
                  <a:pt x="0" y="0"/>
                </a:moveTo>
                <a:lnTo>
                  <a:pt x="2866675" y="0"/>
                </a:lnTo>
                <a:lnTo>
                  <a:pt x="2866675" y="4707472"/>
                </a:lnTo>
                <a:lnTo>
                  <a:pt x="0" y="4707472"/>
                </a:lnTo>
                <a:lnTo>
                  <a:pt x="0" y="0"/>
                </a:lnTo>
                <a:close/>
              </a:path>
            </a:pathLst>
          </a:custGeom>
          <a:blipFill>
            <a:blip r:embed="rId5"/>
            <a:stretch>
              <a:fillRect l="-16397" b="-2042"/>
            </a:stretch>
          </a:blipFill>
        </p:spPr>
      </p:sp>
      <p:grpSp>
        <p:nvGrpSpPr>
          <p:cNvPr id="13" name="Group 13"/>
          <p:cNvGrpSpPr/>
          <p:nvPr/>
        </p:nvGrpSpPr>
        <p:grpSpPr>
          <a:xfrm>
            <a:off x="3598114" y="5230226"/>
            <a:ext cx="1136976" cy="403389"/>
            <a:chOff x="0" y="0"/>
            <a:chExt cx="1488742" cy="528193"/>
          </a:xfrm>
        </p:grpSpPr>
        <p:sp>
          <p:nvSpPr>
            <p:cNvPr id="14" name="Freeform 14"/>
            <p:cNvSpPr/>
            <p:nvPr/>
          </p:nvSpPr>
          <p:spPr>
            <a:xfrm>
              <a:off x="0" y="0"/>
              <a:ext cx="1488742" cy="528193"/>
            </a:xfrm>
            <a:custGeom>
              <a:avLst/>
              <a:gdLst/>
              <a:ahLst/>
              <a:cxnLst/>
              <a:rect l="l" t="t" r="r" b="b"/>
              <a:pathLst>
                <a:path w="1488742" h="528193">
                  <a:moveTo>
                    <a:pt x="1488742" y="264096"/>
                  </a:moveTo>
                  <a:lnTo>
                    <a:pt x="1082342" y="0"/>
                  </a:lnTo>
                  <a:lnTo>
                    <a:pt x="1082342" y="203200"/>
                  </a:lnTo>
                  <a:lnTo>
                    <a:pt x="0" y="203200"/>
                  </a:lnTo>
                  <a:lnTo>
                    <a:pt x="0" y="324993"/>
                  </a:lnTo>
                  <a:lnTo>
                    <a:pt x="1082342" y="324993"/>
                  </a:lnTo>
                  <a:lnTo>
                    <a:pt x="1082342" y="528193"/>
                  </a:lnTo>
                  <a:lnTo>
                    <a:pt x="1488742" y="264096"/>
                  </a:lnTo>
                  <a:close/>
                </a:path>
              </a:pathLst>
            </a:custGeom>
            <a:solidFill>
              <a:srgbClr val="000000"/>
            </a:solidFill>
          </p:spPr>
        </p:sp>
        <p:sp>
          <p:nvSpPr>
            <p:cNvPr id="15" name="TextBox 15"/>
            <p:cNvSpPr txBox="1"/>
            <p:nvPr/>
          </p:nvSpPr>
          <p:spPr>
            <a:xfrm>
              <a:off x="0" y="165100"/>
              <a:ext cx="1387142" cy="159893"/>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5736654" y="3799202"/>
            <a:ext cx="1344298" cy="1344298"/>
          </a:xfrm>
          <a:custGeom>
            <a:avLst/>
            <a:gdLst/>
            <a:ahLst/>
            <a:cxnLst/>
            <a:rect l="l" t="t" r="r" b="b"/>
            <a:pathLst>
              <a:path w="1344298" h="1344298">
                <a:moveTo>
                  <a:pt x="0" y="0"/>
                </a:moveTo>
                <a:lnTo>
                  <a:pt x="1344298" y="0"/>
                </a:lnTo>
                <a:lnTo>
                  <a:pt x="1344298" y="1344298"/>
                </a:lnTo>
                <a:lnTo>
                  <a:pt x="0" y="134429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7" name="TextBox 17"/>
          <p:cNvSpPr txBox="1"/>
          <p:nvPr/>
        </p:nvSpPr>
        <p:spPr>
          <a:xfrm>
            <a:off x="835124" y="981075"/>
            <a:ext cx="3096915" cy="405765"/>
          </a:xfrm>
          <a:prstGeom prst="rect">
            <a:avLst/>
          </a:prstGeom>
        </p:spPr>
        <p:txBody>
          <a:bodyPr lIns="0" tIns="0" rIns="0" bIns="0" rtlCol="0" anchor="t">
            <a:spAutoFit/>
          </a:bodyPr>
          <a:lstStyle/>
          <a:p>
            <a:pPr algn="ctr">
              <a:lnSpc>
                <a:spcPts val="3359"/>
              </a:lnSpc>
              <a:spcBef>
                <a:spcPct val="0"/>
              </a:spcBef>
            </a:pPr>
            <a:r>
              <a:rPr lang="en-US" sz="2399" b="1">
                <a:solidFill>
                  <a:srgbClr val="FFFFFF"/>
                </a:solidFill>
                <a:latin typeface="Inter Bold"/>
                <a:ea typeface="Inter Bold"/>
                <a:cs typeface="Inter Bold"/>
                <a:sym typeface="Inter Bold"/>
              </a:rPr>
              <a:t>3) Age to Age Group </a:t>
            </a:r>
          </a:p>
        </p:txBody>
      </p:sp>
      <p:sp>
        <p:nvSpPr>
          <p:cNvPr id="18" name="TextBox 18"/>
          <p:cNvSpPr txBox="1"/>
          <p:nvPr/>
        </p:nvSpPr>
        <p:spPr>
          <a:xfrm>
            <a:off x="835124" y="1729268"/>
            <a:ext cx="12347476" cy="762068"/>
          </a:xfrm>
          <a:prstGeom prst="rect">
            <a:avLst/>
          </a:prstGeom>
        </p:spPr>
        <p:txBody>
          <a:bodyPr wrap="square" lIns="0" tIns="0" rIns="0" bIns="0" rtlCol="0" anchor="t">
            <a:spAutoFit/>
          </a:bodyPr>
          <a:lstStyle/>
          <a:p>
            <a:pPr algn="l">
              <a:lnSpc>
                <a:spcPts val="3079"/>
              </a:lnSpc>
            </a:pPr>
            <a:r>
              <a:rPr lang="en-US" sz="2199" b="1" dirty="0">
                <a:solidFill>
                  <a:srgbClr val="FFFFFF"/>
                </a:solidFill>
                <a:latin typeface="Inter Bold"/>
                <a:ea typeface="Inter Bold"/>
                <a:cs typeface="Inter Bold"/>
                <a:sym typeface="Inter Bold"/>
              </a:rPr>
              <a:t>Created a new conditional column grouping employee age into bands</a:t>
            </a:r>
          </a:p>
          <a:p>
            <a:pPr algn="l">
              <a:lnSpc>
                <a:spcPts val="3079"/>
              </a:lnSpc>
            </a:pPr>
            <a:r>
              <a:rPr lang="en-US" sz="2199" b="1" dirty="0">
                <a:solidFill>
                  <a:srgbClr val="FFFFFF"/>
                </a:solidFill>
                <a:latin typeface="Inter Bold"/>
                <a:ea typeface="Inter Bold"/>
                <a:cs typeface="Inter Bold"/>
                <a:sym typeface="Inter Bold"/>
              </a:rPr>
              <a:t> — Below 25, 25-35, 35-45, 45-50, and Above 50 — to identify attrition patterns by 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sp>
        <p:nvSpPr>
          <p:cNvPr id="2" name="Freeform 2"/>
          <p:cNvSpPr/>
          <p:nvPr/>
        </p:nvSpPr>
        <p:spPr>
          <a:xfrm>
            <a:off x="8542933"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744067"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580046" y="1028700"/>
            <a:ext cx="13686433" cy="3757058"/>
            <a:chOff x="0" y="0"/>
            <a:chExt cx="3834638" cy="1052526"/>
          </a:xfrm>
        </p:grpSpPr>
        <p:sp>
          <p:nvSpPr>
            <p:cNvPr id="5" name="Freeform 5"/>
            <p:cNvSpPr/>
            <p:nvPr/>
          </p:nvSpPr>
          <p:spPr>
            <a:xfrm>
              <a:off x="0" y="0"/>
              <a:ext cx="3834638" cy="1052526"/>
            </a:xfrm>
            <a:custGeom>
              <a:avLst/>
              <a:gdLst/>
              <a:ahLst/>
              <a:cxnLst/>
              <a:rect l="l" t="t" r="r" b="b"/>
              <a:pathLst>
                <a:path w="3834638" h="1052526">
                  <a:moveTo>
                    <a:pt x="3834638" y="56566"/>
                  </a:moveTo>
                  <a:lnTo>
                    <a:pt x="3834638" y="995960"/>
                  </a:lnTo>
                  <a:cubicBezTo>
                    <a:pt x="3834638" y="1027201"/>
                    <a:pt x="3809312" y="1052526"/>
                    <a:pt x="3778072" y="1052526"/>
                  </a:cubicBezTo>
                  <a:lnTo>
                    <a:pt x="56566" y="1052526"/>
                  </a:lnTo>
                  <a:cubicBezTo>
                    <a:pt x="41564" y="1052526"/>
                    <a:pt x="27176" y="1046567"/>
                    <a:pt x="16568" y="1035958"/>
                  </a:cubicBezTo>
                  <a:cubicBezTo>
                    <a:pt x="5960" y="1025350"/>
                    <a:pt x="0" y="1010962"/>
                    <a:pt x="0" y="995960"/>
                  </a:cubicBezTo>
                  <a:lnTo>
                    <a:pt x="0" y="56566"/>
                  </a:lnTo>
                  <a:cubicBezTo>
                    <a:pt x="0" y="25326"/>
                    <a:pt x="25326" y="0"/>
                    <a:pt x="56566" y="0"/>
                  </a:cubicBezTo>
                  <a:lnTo>
                    <a:pt x="3778072" y="0"/>
                  </a:lnTo>
                  <a:cubicBezTo>
                    <a:pt x="3809312" y="0"/>
                    <a:pt x="3834638" y="25326"/>
                    <a:pt x="3834638" y="56566"/>
                  </a:cubicBezTo>
                  <a:close/>
                </a:path>
              </a:pathLst>
            </a:custGeom>
            <a:solidFill>
              <a:srgbClr val="F26B0F"/>
            </a:solidFill>
          </p:spPr>
        </p:sp>
        <p:sp>
          <p:nvSpPr>
            <p:cNvPr id="6" name="TextBox 6"/>
            <p:cNvSpPr txBox="1"/>
            <p:nvPr/>
          </p:nvSpPr>
          <p:spPr>
            <a:xfrm>
              <a:off x="0" y="-38100"/>
              <a:ext cx="3834638" cy="1090626"/>
            </a:xfrm>
            <a:prstGeom prst="rect">
              <a:avLst/>
            </a:prstGeom>
          </p:spPr>
          <p:txBody>
            <a:bodyPr lIns="50800" tIns="50800" rIns="50800" bIns="50800" rtlCol="0" anchor="ctr"/>
            <a:lstStyle/>
            <a:p>
              <a:pPr marL="0" lvl="0" indent="0" algn="ctr">
                <a:lnSpc>
                  <a:spcPts val="2659"/>
                </a:lnSpc>
              </a:pPr>
              <a:endParaRPr/>
            </a:p>
          </p:txBody>
        </p:sp>
      </p:grpSp>
      <p:sp>
        <p:nvSpPr>
          <p:cNvPr id="7" name="Freeform 7"/>
          <p:cNvSpPr/>
          <p:nvPr/>
        </p:nvSpPr>
        <p:spPr>
          <a:xfrm>
            <a:off x="1381437" y="2830326"/>
            <a:ext cx="10846357" cy="1550977"/>
          </a:xfrm>
          <a:custGeom>
            <a:avLst/>
            <a:gdLst/>
            <a:ahLst/>
            <a:cxnLst/>
            <a:rect l="l" t="t" r="r" b="b"/>
            <a:pathLst>
              <a:path w="10846357" h="1550977">
                <a:moveTo>
                  <a:pt x="0" y="0"/>
                </a:moveTo>
                <a:lnTo>
                  <a:pt x="10846357" y="0"/>
                </a:lnTo>
                <a:lnTo>
                  <a:pt x="10846357" y="1550977"/>
                </a:lnTo>
                <a:lnTo>
                  <a:pt x="0" y="1550977"/>
                </a:lnTo>
                <a:lnTo>
                  <a:pt x="0" y="0"/>
                </a:lnTo>
                <a:close/>
              </a:path>
            </a:pathLst>
          </a:custGeom>
          <a:blipFill>
            <a:blip r:embed="rId3"/>
            <a:stretch>
              <a:fillRect/>
            </a:stretch>
          </a:blipFill>
        </p:spPr>
      </p:sp>
      <p:grpSp>
        <p:nvGrpSpPr>
          <p:cNvPr id="8" name="Group 8"/>
          <p:cNvGrpSpPr/>
          <p:nvPr/>
        </p:nvGrpSpPr>
        <p:grpSpPr>
          <a:xfrm>
            <a:off x="580046" y="5476875"/>
            <a:ext cx="13686433" cy="3757058"/>
            <a:chOff x="0" y="0"/>
            <a:chExt cx="3834638" cy="1052526"/>
          </a:xfrm>
        </p:grpSpPr>
        <p:sp>
          <p:nvSpPr>
            <p:cNvPr id="9" name="Freeform 9"/>
            <p:cNvSpPr/>
            <p:nvPr/>
          </p:nvSpPr>
          <p:spPr>
            <a:xfrm>
              <a:off x="0" y="0"/>
              <a:ext cx="3834638" cy="1052526"/>
            </a:xfrm>
            <a:custGeom>
              <a:avLst/>
              <a:gdLst/>
              <a:ahLst/>
              <a:cxnLst/>
              <a:rect l="l" t="t" r="r" b="b"/>
              <a:pathLst>
                <a:path w="3834638" h="1052526">
                  <a:moveTo>
                    <a:pt x="3834638" y="56566"/>
                  </a:moveTo>
                  <a:lnTo>
                    <a:pt x="3834638" y="995960"/>
                  </a:lnTo>
                  <a:cubicBezTo>
                    <a:pt x="3834638" y="1027201"/>
                    <a:pt x="3809312" y="1052526"/>
                    <a:pt x="3778072" y="1052526"/>
                  </a:cubicBezTo>
                  <a:lnTo>
                    <a:pt x="56566" y="1052526"/>
                  </a:lnTo>
                  <a:cubicBezTo>
                    <a:pt x="41564" y="1052526"/>
                    <a:pt x="27176" y="1046567"/>
                    <a:pt x="16568" y="1035958"/>
                  </a:cubicBezTo>
                  <a:cubicBezTo>
                    <a:pt x="5960" y="1025350"/>
                    <a:pt x="0" y="1010962"/>
                    <a:pt x="0" y="995960"/>
                  </a:cubicBezTo>
                  <a:lnTo>
                    <a:pt x="0" y="56566"/>
                  </a:lnTo>
                  <a:cubicBezTo>
                    <a:pt x="0" y="25326"/>
                    <a:pt x="25326" y="0"/>
                    <a:pt x="56566" y="0"/>
                  </a:cubicBezTo>
                  <a:lnTo>
                    <a:pt x="3778072" y="0"/>
                  </a:lnTo>
                  <a:cubicBezTo>
                    <a:pt x="3809312" y="0"/>
                    <a:pt x="3834638" y="25326"/>
                    <a:pt x="3834638" y="56566"/>
                  </a:cubicBezTo>
                  <a:close/>
                </a:path>
              </a:pathLst>
            </a:custGeom>
            <a:solidFill>
              <a:srgbClr val="F26B0F"/>
            </a:solidFill>
          </p:spPr>
        </p:sp>
        <p:sp>
          <p:nvSpPr>
            <p:cNvPr id="10" name="TextBox 10"/>
            <p:cNvSpPr txBox="1"/>
            <p:nvPr/>
          </p:nvSpPr>
          <p:spPr>
            <a:xfrm>
              <a:off x="0" y="-38100"/>
              <a:ext cx="3834638" cy="1090626"/>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1600910" y="7059934"/>
            <a:ext cx="11223427" cy="2006187"/>
          </a:xfrm>
          <a:custGeom>
            <a:avLst/>
            <a:gdLst/>
            <a:ahLst/>
            <a:cxnLst/>
            <a:rect l="l" t="t" r="r" b="b"/>
            <a:pathLst>
              <a:path w="11223427" h="2006187">
                <a:moveTo>
                  <a:pt x="0" y="0"/>
                </a:moveTo>
                <a:lnTo>
                  <a:pt x="11223426" y="0"/>
                </a:lnTo>
                <a:lnTo>
                  <a:pt x="11223426" y="2006188"/>
                </a:lnTo>
                <a:lnTo>
                  <a:pt x="0" y="2006188"/>
                </a:lnTo>
                <a:lnTo>
                  <a:pt x="0" y="0"/>
                </a:lnTo>
                <a:close/>
              </a:path>
            </a:pathLst>
          </a:custGeom>
          <a:blipFill>
            <a:blip r:embed="rId4"/>
            <a:stretch>
              <a:fillRect/>
            </a:stretch>
          </a:blipFill>
        </p:spPr>
      </p:sp>
      <p:sp>
        <p:nvSpPr>
          <p:cNvPr id="12" name="TextBox 12"/>
          <p:cNvSpPr txBox="1"/>
          <p:nvPr/>
        </p:nvSpPr>
        <p:spPr>
          <a:xfrm>
            <a:off x="1283599" y="1269496"/>
            <a:ext cx="12759035" cy="1560830"/>
          </a:xfrm>
          <a:prstGeom prst="rect">
            <a:avLst/>
          </a:prstGeom>
        </p:spPr>
        <p:txBody>
          <a:bodyPr lIns="0" tIns="0" rIns="0" bIns="0" rtlCol="0" anchor="t">
            <a:spAutoFit/>
          </a:bodyPr>
          <a:lstStyle/>
          <a:p>
            <a:pPr algn="l">
              <a:lnSpc>
                <a:spcPts val="3359"/>
              </a:lnSpc>
            </a:pPr>
            <a:r>
              <a:rPr lang="en-US" sz="2399" b="1">
                <a:solidFill>
                  <a:srgbClr val="FFFFFF"/>
                </a:solidFill>
                <a:latin typeface="Inter Bold"/>
                <a:ea typeface="Inter Bold"/>
                <a:cs typeface="Inter Bold"/>
                <a:sym typeface="Inter Bold"/>
              </a:rPr>
              <a:t>Measure 1 : Total Attrition </a:t>
            </a:r>
          </a:p>
          <a:p>
            <a:pPr algn="l">
              <a:lnSpc>
                <a:spcPts val="2939"/>
              </a:lnSpc>
            </a:pPr>
            <a:endParaRPr lang="en-US" sz="2399" b="1">
              <a:solidFill>
                <a:srgbClr val="FFFFFF"/>
              </a:solidFill>
              <a:latin typeface="Inter Bold"/>
              <a:ea typeface="Inter Bold"/>
              <a:cs typeface="Inter Bold"/>
              <a:sym typeface="Inter Bold"/>
            </a:endParaRPr>
          </a:p>
          <a:p>
            <a:pPr algn="l">
              <a:lnSpc>
                <a:spcPts val="3079"/>
              </a:lnSpc>
            </a:pPr>
            <a:r>
              <a:rPr lang="en-US" sz="2199" b="1">
                <a:solidFill>
                  <a:srgbClr val="FFFFFF"/>
                </a:solidFill>
                <a:latin typeface="Inter Bold"/>
                <a:ea typeface="Inter Bold"/>
                <a:cs typeface="Inter Bold"/>
                <a:sym typeface="Inter Bold"/>
              </a:rPr>
              <a:t>A DAX measure created to calculate the total number of employees who left the organization.</a:t>
            </a:r>
          </a:p>
          <a:p>
            <a:pPr algn="l">
              <a:lnSpc>
                <a:spcPts val="3079"/>
              </a:lnSpc>
              <a:spcBef>
                <a:spcPct val="0"/>
              </a:spcBef>
            </a:pPr>
            <a:endParaRPr lang="en-US" sz="2199" b="1">
              <a:solidFill>
                <a:srgbClr val="FFFFFF"/>
              </a:solidFill>
              <a:latin typeface="Inter Bold"/>
              <a:ea typeface="Inter Bold"/>
              <a:cs typeface="Inter Bold"/>
              <a:sym typeface="Inter Bold"/>
            </a:endParaRPr>
          </a:p>
        </p:txBody>
      </p:sp>
      <p:sp>
        <p:nvSpPr>
          <p:cNvPr id="13" name="TextBox 13"/>
          <p:cNvSpPr txBox="1"/>
          <p:nvPr/>
        </p:nvSpPr>
        <p:spPr>
          <a:xfrm>
            <a:off x="1381437" y="5786532"/>
            <a:ext cx="11442899" cy="1541780"/>
          </a:xfrm>
          <a:prstGeom prst="rect">
            <a:avLst/>
          </a:prstGeom>
        </p:spPr>
        <p:txBody>
          <a:bodyPr lIns="0" tIns="0" rIns="0" bIns="0" rtlCol="0" anchor="t">
            <a:spAutoFit/>
          </a:bodyPr>
          <a:lstStyle/>
          <a:p>
            <a:pPr algn="l">
              <a:lnSpc>
                <a:spcPts val="3359"/>
              </a:lnSpc>
              <a:spcBef>
                <a:spcPct val="0"/>
              </a:spcBef>
            </a:pPr>
            <a:r>
              <a:rPr lang="en-US" sz="2399" b="1" dirty="0">
                <a:solidFill>
                  <a:srgbClr val="FFFFFF"/>
                </a:solidFill>
                <a:latin typeface="Inter Bold"/>
                <a:ea typeface="Inter Bold"/>
                <a:cs typeface="Inter Bold"/>
                <a:sym typeface="Inter Bold"/>
              </a:rPr>
              <a:t>Measure 2: Attrition Rate (%)</a:t>
            </a:r>
          </a:p>
          <a:p>
            <a:pPr algn="l">
              <a:lnSpc>
                <a:spcPts val="2799"/>
              </a:lnSpc>
              <a:spcBef>
                <a:spcPct val="0"/>
              </a:spcBef>
            </a:pPr>
            <a:endParaRPr lang="en-US" sz="2399" b="1" dirty="0">
              <a:solidFill>
                <a:srgbClr val="FFFFFF"/>
              </a:solidFill>
              <a:latin typeface="Inter Bold"/>
              <a:ea typeface="Inter Bold"/>
              <a:cs typeface="Inter Bold"/>
              <a:sym typeface="Inter Bold"/>
            </a:endParaRPr>
          </a:p>
          <a:p>
            <a:pPr algn="ctr">
              <a:lnSpc>
                <a:spcPts val="3079"/>
              </a:lnSpc>
              <a:spcBef>
                <a:spcPct val="0"/>
              </a:spcBef>
            </a:pPr>
            <a:r>
              <a:rPr lang="en-US" sz="2199" b="1" dirty="0">
                <a:solidFill>
                  <a:srgbClr val="FFFFFF"/>
                </a:solidFill>
                <a:latin typeface="Inter Bold"/>
                <a:ea typeface="Inter Bold"/>
                <a:cs typeface="Inter Bold"/>
                <a:sym typeface="Inter Bold"/>
              </a:rPr>
              <a:t>A DAX measure created to calculate attrition as a percentage of the total workforce.</a:t>
            </a:r>
          </a:p>
          <a:p>
            <a:pPr algn="ctr">
              <a:lnSpc>
                <a:spcPts val="3079"/>
              </a:lnSpc>
              <a:spcBef>
                <a:spcPct val="0"/>
              </a:spcBef>
            </a:pPr>
            <a:endParaRPr lang="en-US" sz="2199" b="1" dirty="0">
              <a:solidFill>
                <a:srgbClr val="FFFFFF"/>
              </a:solidFill>
              <a:latin typeface="Inter Bold"/>
              <a:ea typeface="Inter Bold"/>
              <a:cs typeface="Inter Bold"/>
              <a:sym typeface="Inter Bold"/>
            </a:endParaRPr>
          </a:p>
        </p:txBody>
      </p:sp>
      <p:sp>
        <p:nvSpPr>
          <p:cNvPr id="14" name="Freeform 14"/>
          <p:cNvSpPr/>
          <p:nvPr/>
        </p:nvSpPr>
        <p:spPr>
          <a:xfrm rot="-4692927">
            <a:off x="16501289" y="8236261"/>
            <a:ext cx="1516023" cy="2173509"/>
          </a:xfrm>
          <a:custGeom>
            <a:avLst/>
            <a:gdLst/>
            <a:ahLst/>
            <a:cxnLst/>
            <a:rect l="l" t="t" r="r" b="b"/>
            <a:pathLst>
              <a:path w="1516023" h="2173509">
                <a:moveTo>
                  <a:pt x="0" y="0"/>
                </a:moveTo>
                <a:lnTo>
                  <a:pt x="1516022" y="0"/>
                </a:lnTo>
                <a:lnTo>
                  <a:pt x="1516022" y="2173509"/>
                </a:lnTo>
                <a:lnTo>
                  <a:pt x="0" y="217350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Freeform 15"/>
          <p:cNvSpPr/>
          <p:nvPr/>
        </p:nvSpPr>
        <p:spPr>
          <a:xfrm rot="-4692927">
            <a:off x="17146265" y="-429637"/>
            <a:ext cx="1291302" cy="1851329"/>
          </a:xfrm>
          <a:custGeom>
            <a:avLst/>
            <a:gdLst/>
            <a:ahLst/>
            <a:cxnLst/>
            <a:rect l="l" t="t" r="r" b="b"/>
            <a:pathLst>
              <a:path w="1291302" h="1851329">
                <a:moveTo>
                  <a:pt x="0" y="0"/>
                </a:moveTo>
                <a:lnTo>
                  <a:pt x="1291302" y="0"/>
                </a:lnTo>
                <a:lnTo>
                  <a:pt x="1291302" y="1851330"/>
                </a:lnTo>
                <a:lnTo>
                  <a:pt x="0" y="185133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Freeform 16"/>
          <p:cNvSpPr/>
          <p:nvPr/>
        </p:nvSpPr>
        <p:spPr>
          <a:xfrm>
            <a:off x="15639400" y="3458065"/>
            <a:ext cx="2648600" cy="2018810"/>
          </a:xfrm>
          <a:custGeom>
            <a:avLst/>
            <a:gdLst/>
            <a:ahLst/>
            <a:cxnLst/>
            <a:rect l="l" t="t" r="r" b="b"/>
            <a:pathLst>
              <a:path w="2648600" h="2018810">
                <a:moveTo>
                  <a:pt x="0" y="0"/>
                </a:moveTo>
                <a:lnTo>
                  <a:pt x="2648600" y="0"/>
                </a:lnTo>
                <a:lnTo>
                  <a:pt x="2648600" y="2018810"/>
                </a:lnTo>
                <a:lnTo>
                  <a:pt x="0" y="201881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TextBox 24">
            <a:extLst>
              <a:ext uri="{FF2B5EF4-FFF2-40B4-BE49-F238E27FC236}">
                <a16:creationId xmlns:a16="http://schemas.microsoft.com/office/drawing/2014/main" id="{CD3D97E4-A99F-F2FD-4604-CC0D600C06EE}"/>
              </a:ext>
            </a:extLst>
          </p:cNvPr>
          <p:cNvSpPr txBox="1"/>
          <p:nvPr/>
        </p:nvSpPr>
        <p:spPr>
          <a:xfrm>
            <a:off x="739167" y="525570"/>
            <a:ext cx="6691469" cy="424603"/>
          </a:xfrm>
          <a:prstGeom prst="rect">
            <a:avLst/>
          </a:prstGeom>
        </p:spPr>
        <p:txBody>
          <a:bodyPr wrap="square" lIns="0" tIns="0" rIns="0" bIns="0" rtlCol="0" anchor="t">
            <a:spAutoFit/>
          </a:bodyPr>
          <a:lstStyle/>
          <a:p>
            <a:pPr>
              <a:lnSpc>
                <a:spcPts val="3639"/>
              </a:lnSpc>
              <a:spcBef>
                <a:spcPct val="0"/>
              </a:spcBef>
            </a:pPr>
            <a:r>
              <a:rPr lang="en-US" sz="2599" b="1" dirty="0">
                <a:solidFill>
                  <a:srgbClr val="FFFFFF"/>
                </a:solidFill>
                <a:latin typeface="Inter Bold"/>
                <a:ea typeface="Inter Bold"/>
                <a:cs typeface="Inter Bold"/>
                <a:sym typeface="Inter Bold"/>
              </a:rPr>
              <a:t>• DAX Measures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grpSp>
        <p:nvGrpSpPr>
          <p:cNvPr id="2" name="Group 2"/>
          <p:cNvGrpSpPr/>
          <p:nvPr/>
        </p:nvGrpSpPr>
        <p:grpSpPr>
          <a:xfrm>
            <a:off x="-1134441" y="0"/>
            <a:ext cx="20556882" cy="10287000"/>
            <a:chOff x="0" y="0"/>
            <a:chExt cx="27409176"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3693176"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a:off x="679618" y="2213081"/>
            <a:ext cx="12043525" cy="6743489"/>
            <a:chOff x="0" y="0"/>
            <a:chExt cx="3171957" cy="1776063"/>
          </a:xfrm>
        </p:grpSpPr>
        <p:sp>
          <p:nvSpPr>
            <p:cNvPr id="6" name="Freeform 6"/>
            <p:cNvSpPr/>
            <p:nvPr/>
          </p:nvSpPr>
          <p:spPr>
            <a:xfrm>
              <a:off x="0" y="0"/>
              <a:ext cx="3171957" cy="1776063"/>
            </a:xfrm>
            <a:custGeom>
              <a:avLst/>
              <a:gdLst/>
              <a:ahLst/>
              <a:cxnLst/>
              <a:rect l="l" t="t" r="r" b="b"/>
              <a:pathLst>
                <a:path w="3171957" h="1776063">
                  <a:moveTo>
                    <a:pt x="64283" y="0"/>
                  </a:moveTo>
                  <a:lnTo>
                    <a:pt x="3107674" y="0"/>
                  </a:lnTo>
                  <a:cubicBezTo>
                    <a:pt x="3143177" y="0"/>
                    <a:pt x="3171957" y="28780"/>
                    <a:pt x="3171957" y="64283"/>
                  </a:cubicBezTo>
                  <a:lnTo>
                    <a:pt x="3171957" y="1711780"/>
                  </a:lnTo>
                  <a:cubicBezTo>
                    <a:pt x="3171957" y="1747282"/>
                    <a:pt x="3143177" y="1776063"/>
                    <a:pt x="3107674" y="1776063"/>
                  </a:cubicBezTo>
                  <a:lnTo>
                    <a:pt x="64283" y="1776063"/>
                  </a:lnTo>
                  <a:cubicBezTo>
                    <a:pt x="47234" y="1776063"/>
                    <a:pt x="30883" y="1769290"/>
                    <a:pt x="18828" y="1757235"/>
                  </a:cubicBezTo>
                  <a:cubicBezTo>
                    <a:pt x="6773" y="1745180"/>
                    <a:pt x="0" y="1728829"/>
                    <a:pt x="0" y="1711780"/>
                  </a:cubicBezTo>
                  <a:lnTo>
                    <a:pt x="0" y="64283"/>
                  </a:lnTo>
                  <a:cubicBezTo>
                    <a:pt x="0" y="47234"/>
                    <a:pt x="6773" y="30883"/>
                    <a:pt x="18828" y="18828"/>
                  </a:cubicBezTo>
                  <a:cubicBezTo>
                    <a:pt x="30883" y="6773"/>
                    <a:pt x="47234" y="0"/>
                    <a:pt x="64283" y="0"/>
                  </a:cubicBezTo>
                  <a:close/>
                </a:path>
              </a:pathLst>
            </a:custGeom>
            <a:solidFill>
              <a:srgbClr val="F26B0F"/>
            </a:solidFill>
          </p:spPr>
        </p:sp>
        <p:sp>
          <p:nvSpPr>
            <p:cNvPr id="7" name="TextBox 7"/>
            <p:cNvSpPr txBox="1"/>
            <p:nvPr/>
          </p:nvSpPr>
          <p:spPr>
            <a:xfrm>
              <a:off x="0" y="-38100"/>
              <a:ext cx="3171957" cy="1814163"/>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2889006" y="9505950"/>
            <a:ext cx="24066013" cy="1382536"/>
            <a:chOff x="0" y="0"/>
            <a:chExt cx="6338374" cy="364125"/>
          </a:xfrm>
        </p:grpSpPr>
        <p:sp>
          <p:nvSpPr>
            <p:cNvPr id="9" name="Freeform 9"/>
            <p:cNvSpPr/>
            <p:nvPr/>
          </p:nvSpPr>
          <p:spPr>
            <a:xfrm>
              <a:off x="0" y="0"/>
              <a:ext cx="6338374" cy="364125"/>
            </a:xfrm>
            <a:custGeom>
              <a:avLst/>
              <a:gdLst/>
              <a:ahLst/>
              <a:cxnLst/>
              <a:rect l="l" t="t" r="r" b="b"/>
              <a:pathLst>
                <a:path w="6338374" h="364125">
                  <a:moveTo>
                    <a:pt x="3169187" y="0"/>
                  </a:moveTo>
                  <a:cubicBezTo>
                    <a:pt x="1418893" y="0"/>
                    <a:pt x="0" y="81512"/>
                    <a:pt x="0" y="182062"/>
                  </a:cubicBezTo>
                  <a:cubicBezTo>
                    <a:pt x="0" y="282613"/>
                    <a:pt x="1418893" y="364125"/>
                    <a:pt x="3169187" y="364125"/>
                  </a:cubicBezTo>
                  <a:cubicBezTo>
                    <a:pt x="4919480" y="364125"/>
                    <a:pt x="6338374" y="282613"/>
                    <a:pt x="6338374" y="182062"/>
                  </a:cubicBezTo>
                  <a:cubicBezTo>
                    <a:pt x="6338374" y="81512"/>
                    <a:pt x="4919480" y="0"/>
                    <a:pt x="3169187" y="0"/>
                  </a:cubicBezTo>
                  <a:close/>
                </a:path>
              </a:pathLst>
            </a:custGeom>
            <a:solidFill>
              <a:srgbClr val="FFDE59"/>
            </a:solidFill>
          </p:spPr>
        </p:sp>
        <p:sp>
          <p:nvSpPr>
            <p:cNvPr id="10" name="TextBox 10"/>
            <p:cNvSpPr txBox="1"/>
            <p:nvPr/>
          </p:nvSpPr>
          <p:spPr>
            <a:xfrm>
              <a:off x="594223" y="-3963"/>
              <a:ext cx="5149929" cy="333951"/>
            </a:xfrm>
            <a:prstGeom prst="rect">
              <a:avLst/>
            </a:prstGeom>
          </p:spPr>
          <p:txBody>
            <a:bodyPr lIns="50800" tIns="50800" rIns="50800" bIns="50800" rtlCol="0" anchor="ctr"/>
            <a:lstStyle/>
            <a:p>
              <a:pPr marL="0" lvl="0" indent="0" algn="ctr">
                <a:lnSpc>
                  <a:spcPts val="2659"/>
                </a:lnSpc>
              </a:pPr>
              <a:endParaRPr/>
            </a:p>
          </p:txBody>
        </p:sp>
      </p:grpSp>
      <p:sp>
        <p:nvSpPr>
          <p:cNvPr id="11" name="TextBox 11"/>
          <p:cNvSpPr txBox="1"/>
          <p:nvPr/>
        </p:nvSpPr>
        <p:spPr>
          <a:xfrm>
            <a:off x="1697773" y="765331"/>
            <a:ext cx="13629885" cy="631514"/>
          </a:xfrm>
          <a:prstGeom prst="rect">
            <a:avLst/>
          </a:prstGeom>
        </p:spPr>
        <p:txBody>
          <a:bodyPr lIns="0" tIns="0" rIns="0" bIns="0" rtlCol="0" anchor="t">
            <a:spAutoFit/>
          </a:bodyPr>
          <a:lstStyle/>
          <a:p>
            <a:pPr marL="0" lvl="0" indent="0" algn="l">
              <a:lnSpc>
                <a:spcPts val="4693"/>
              </a:lnSpc>
            </a:pPr>
            <a:r>
              <a:rPr lang="en-US" sz="4888">
                <a:solidFill>
                  <a:srgbClr val="FFFFFF"/>
                </a:solidFill>
                <a:latin typeface="Lilita One"/>
                <a:ea typeface="Lilita One"/>
                <a:cs typeface="Lilita One"/>
                <a:sym typeface="Lilita One"/>
              </a:rPr>
              <a:t>DATA VISUALISATION</a:t>
            </a:r>
          </a:p>
        </p:txBody>
      </p:sp>
      <p:sp>
        <p:nvSpPr>
          <p:cNvPr id="12" name="Freeform 12"/>
          <p:cNvSpPr/>
          <p:nvPr/>
        </p:nvSpPr>
        <p:spPr>
          <a:xfrm rot="4946724">
            <a:off x="14037287" y="543852"/>
            <a:ext cx="1242597" cy="1781501"/>
          </a:xfrm>
          <a:custGeom>
            <a:avLst/>
            <a:gdLst/>
            <a:ahLst/>
            <a:cxnLst/>
            <a:rect l="l" t="t" r="r" b="b"/>
            <a:pathLst>
              <a:path w="1242597" h="1781501">
                <a:moveTo>
                  <a:pt x="0" y="0"/>
                </a:moveTo>
                <a:lnTo>
                  <a:pt x="1242596" y="0"/>
                </a:lnTo>
                <a:lnTo>
                  <a:pt x="1242596" y="1781501"/>
                </a:lnTo>
                <a:lnTo>
                  <a:pt x="0" y="178150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flipH="1">
            <a:off x="15137103" y="3819410"/>
            <a:ext cx="2658619" cy="1765415"/>
          </a:xfrm>
          <a:custGeom>
            <a:avLst/>
            <a:gdLst/>
            <a:ahLst/>
            <a:cxnLst/>
            <a:rect l="l" t="t" r="r" b="b"/>
            <a:pathLst>
              <a:path w="2658619" h="1765415">
                <a:moveTo>
                  <a:pt x="2658619" y="0"/>
                </a:moveTo>
                <a:lnTo>
                  <a:pt x="0" y="0"/>
                </a:lnTo>
                <a:lnTo>
                  <a:pt x="0" y="1765415"/>
                </a:lnTo>
                <a:lnTo>
                  <a:pt x="2658619" y="1765415"/>
                </a:lnTo>
                <a:lnTo>
                  <a:pt x="2658619"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rot="-4692927">
            <a:off x="15597750" y="7207561"/>
            <a:ext cx="1516023" cy="2173509"/>
          </a:xfrm>
          <a:custGeom>
            <a:avLst/>
            <a:gdLst/>
            <a:ahLst/>
            <a:cxnLst/>
            <a:rect l="l" t="t" r="r" b="b"/>
            <a:pathLst>
              <a:path w="1516023" h="2173509">
                <a:moveTo>
                  <a:pt x="0" y="0"/>
                </a:moveTo>
                <a:lnTo>
                  <a:pt x="1516023" y="0"/>
                </a:lnTo>
                <a:lnTo>
                  <a:pt x="1516023" y="2173509"/>
                </a:lnTo>
                <a:lnTo>
                  <a:pt x="0" y="21735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5" name="Freeform 15"/>
          <p:cNvSpPr/>
          <p:nvPr/>
        </p:nvSpPr>
        <p:spPr>
          <a:xfrm>
            <a:off x="2564584" y="5514543"/>
            <a:ext cx="7365490" cy="1453447"/>
          </a:xfrm>
          <a:custGeom>
            <a:avLst/>
            <a:gdLst/>
            <a:ahLst/>
            <a:cxnLst/>
            <a:rect l="l" t="t" r="r" b="b"/>
            <a:pathLst>
              <a:path w="7365490" h="1453447">
                <a:moveTo>
                  <a:pt x="0" y="0"/>
                </a:moveTo>
                <a:lnTo>
                  <a:pt x="7365489" y="0"/>
                </a:lnTo>
                <a:lnTo>
                  <a:pt x="7365489" y="1453446"/>
                </a:lnTo>
                <a:lnTo>
                  <a:pt x="0" y="1453446"/>
                </a:lnTo>
                <a:lnTo>
                  <a:pt x="0" y="0"/>
                </a:lnTo>
                <a:close/>
              </a:path>
            </a:pathLst>
          </a:custGeom>
          <a:blipFill>
            <a:blip r:embed="rId5"/>
            <a:stretch>
              <a:fillRect t="-1007" r="-97905" b="-1007"/>
            </a:stretch>
          </a:blipFill>
        </p:spPr>
      </p:sp>
      <p:sp>
        <p:nvSpPr>
          <p:cNvPr id="16" name="TextBox 16"/>
          <p:cNvSpPr txBox="1"/>
          <p:nvPr/>
        </p:nvSpPr>
        <p:spPr>
          <a:xfrm>
            <a:off x="2716949" y="2596921"/>
            <a:ext cx="7874851" cy="399405"/>
          </a:xfrm>
          <a:prstGeom prst="rect">
            <a:avLst/>
          </a:prstGeom>
        </p:spPr>
        <p:txBody>
          <a:bodyPr wrap="square" lIns="0" tIns="0" rIns="0" bIns="0" rtlCol="0" anchor="t">
            <a:spAutoFit/>
          </a:bodyPr>
          <a:lstStyle/>
          <a:p>
            <a:pPr algn="ctr">
              <a:lnSpc>
                <a:spcPts val="3359"/>
              </a:lnSpc>
              <a:spcBef>
                <a:spcPct val="0"/>
              </a:spcBef>
            </a:pPr>
            <a:r>
              <a:rPr lang="en-US" sz="2399" b="1" dirty="0">
                <a:solidFill>
                  <a:srgbClr val="FFFFFF"/>
                </a:solidFill>
                <a:latin typeface="Inter Bold"/>
                <a:ea typeface="Inter Bold"/>
                <a:cs typeface="Inter Bold"/>
                <a:sym typeface="Inter Bold"/>
              </a:rPr>
              <a:t>Key Performance Indicators (KPI) Overview</a:t>
            </a:r>
          </a:p>
        </p:txBody>
      </p:sp>
      <p:sp>
        <p:nvSpPr>
          <p:cNvPr id="17" name="TextBox 17"/>
          <p:cNvSpPr txBox="1"/>
          <p:nvPr/>
        </p:nvSpPr>
        <p:spPr>
          <a:xfrm>
            <a:off x="1291274" y="3201060"/>
            <a:ext cx="10443526" cy="2080954"/>
          </a:xfrm>
          <a:prstGeom prst="rect">
            <a:avLst/>
          </a:prstGeom>
        </p:spPr>
        <p:txBody>
          <a:bodyPr wrap="square" lIns="0" tIns="0" rIns="0" bIns="0" rtlCol="0" anchor="t">
            <a:spAutoFit/>
          </a:bodyPr>
          <a:lstStyle/>
          <a:p>
            <a:pPr algn="l">
              <a:lnSpc>
                <a:spcPts val="3286"/>
              </a:lnSpc>
            </a:pPr>
            <a:endParaRPr dirty="0"/>
          </a:p>
          <a:p>
            <a:pPr algn="l">
              <a:lnSpc>
                <a:spcPts val="3286"/>
              </a:lnSpc>
            </a:pPr>
            <a:r>
              <a:rPr lang="en-US" sz="2347" b="1" dirty="0">
                <a:solidFill>
                  <a:srgbClr val="FFFFFF"/>
                </a:solidFill>
                <a:latin typeface="Inter Bold"/>
                <a:ea typeface="Inter Bold"/>
                <a:cs typeface="Inter Bold"/>
                <a:sym typeface="Inter Bold"/>
              </a:rPr>
              <a:t>The organization has 1470 employees with 237 attritions, </a:t>
            </a:r>
          </a:p>
          <a:p>
            <a:pPr algn="l">
              <a:lnSpc>
                <a:spcPts val="3286"/>
              </a:lnSpc>
            </a:pPr>
            <a:r>
              <a:rPr lang="en-US" sz="2347" b="1" dirty="0">
                <a:solidFill>
                  <a:srgbClr val="FFFFFF"/>
                </a:solidFill>
                <a:latin typeface="Inter Bold"/>
                <a:ea typeface="Inter Bold"/>
                <a:cs typeface="Inter Bold"/>
                <a:sym typeface="Inter Bold"/>
              </a:rPr>
              <a:t>giving a 16.1% attrition rate; average age is 37, average salary is 6.5K</a:t>
            </a:r>
          </a:p>
          <a:p>
            <a:pPr algn="l">
              <a:lnSpc>
                <a:spcPts val="3286"/>
              </a:lnSpc>
            </a:pPr>
            <a:r>
              <a:rPr lang="en-US" sz="2347" b="1" dirty="0">
                <a:solidFill>
                  <a:srgbClr val="FFFFFF"/>
                </a:solidFill>
                <a:latin typeface="Inter Bold"/>
                <a:ea typeface="Inter Bold"/>
                <a:cs typeface="Inter Bold"/>
                <a:sym typeface="Inter Bold"/>
              </a:rPr>
              <a:t> and employees typically stay for 7 years.</a:t>
            </a:r>
          </a:p>
          <a:p>
            <a:pPr algn="l">
              <a:lnSpc>
                <a:spcPts val="3286"/>
              </a:lnSpc>
              <a:spcBef>
                <a:spcPct val="0"/>
              </a:spcBef>
            </a:pPr>
            <a:endParaRPr lang="en-US" sz="2347" b="1" dirty="0">
              <a:solidFill>
                <a:srgbClr val="FFFFFF"/>
              </a:solidFill>
              <a:latin typeface="Inter Bold"/>
              <a:ea typeface="Inter Bold"/>
              <a:cs typeface="Inter Bold"/>
              <a:sym typeface="Inter Bold"/>
            </a:endParaRPr>
          </a:p>
        </p:txBody>
      </p:sp>
      <p:sp>
        <p:nvSpPr>
          <p:cNvPr id="18" name="Freeform 18"/>
          <p:cNvSpPr/>
          <p:nvPr/>
        </p:nvSpPr>
        <p:spPr>
          <a:xfrm>
            <a:off x="2564584" y="7330331"/>
            <a:ext cx="7365490" cy="1453447"/>
          </a:xfrm>
          <a:custGeom>
            <a:avLst/>
            <a:gdLst/>
            <a:ahLst/>
            <a:cxnLst/>
            <a:rect l="l" t="t" r="r" b="b"/>
            <a:pathLst>
              <a:path w="7365490" h="1453447">
                <a:moveTo>
                  <a:pt x="0" y="0"/>
                </a:moveTo>
                <a:lnTo>
                  <a:pt x="7365489" y="0"/>
                </a:lnTo>
                <a:lnTo>
                  <a:pt x="7365489" y="1453447"/>
                </a:lnTo>
                <a:lnTo>
                  <a:pt x="0" y="1453447"/>
                </a:lnTo>
                <a:lnTo>
                  <a:pt x="0" y="0"/>
                </a:lnTo>
                <a:close/>
              </a:path>
            </a:pathLst>
          </a:custGeom>
          <a:blipFill>
            <a:blip r:embed="rId5"/>
            <a:stretch>
              <a:fillRect l="-95055" t="-272" b="-272"/>
            </a:stretch>
          </a:blipFill>
        </p:spPr>
      </p:sp>
      <p:grpSp>
        <p:nvGrpSpPr>
          <p:cNvPr id="19" name="Group 19"/>
          <p:cNvGrpSpPr/>
          <p:nvPr/>
        </p:nvGrpSpPr>
        <p:grpSpPr>
          <a:xfrm>
            <a:off x="900513" y="879130"/>
            <a:ext cx="256374" cy="25637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id="21" name="TextBox 2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sp>
        <p:nvSpPr>
          <p:cNvPr id="2" name="Freeform 2"/>
          <p:cNvSpPr/>
          <p:nvPr/>
        </p:nvSpPr>
        <p:spPr>
          <a:xfrm>
            <a:off x="8542933"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744067"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658528" y="1771756"/>
            <a:ext cx="12114960" cy="6743489"/>
            <a:chOff x="0" y="0"/>
            <a:chExt cx="3190771" cy="1776063"/>
          </a:xfrm>
        </p:grpSpPr>
        <p:sp>
          <p:nvSpPr>
            <p:cNvPr id="5" name="Freeform 5"/>
            <p:cNvSpPr/>
            <p:nvPr/>
          </p:nvSpPr>
          <p:spPr>
            <a:xfrm>
              <a:off x="0" y="0"/>
              <a:ext cx="3190771" cy="1776063"/>
            </a:xfrm>
            <a:custGeom>
              <a:avLst/>
              <a:gdLst/>
              <a:ahLst/>
              <a:cxnLst/>
              <a:rect l="l" t="t" r="r" b="b"/>
              <a:pathLst>
                <a:path w="3190771" h="1776063">
                  <a:moveTo>
                    <a:pt x="63904" y="0"/>
                  </a:moveTo>
                  <a:lnTo>
                    <a:pt x="3126867" y="0"/>
                  </a:lnTo>
                  <a:cubicBezTo>
                    <a:pt x="3162161" y="0"/>
                    <a:pt x="3190771" y="28611"/>
                    <a:pt x="3190771" y="63904"/>
                  </a:cubicBezTo>
                  <a:lnTo>
                    <a:pt x="3190771" y="1712159"/>
                  </a:lnTo>
                  <a:cubicBezTo>
                    <a:pt x="3190771" y="1747452"/>
                    <a:pt x="3162161" y="1776063"/>
                    <a:pt x="3126867" y="1776063"/>
                  </a:cubicBezTo>
                  <a:lnTo>
                    <a:pt x="63904" y="1776063"/>
                  </a:lnTo>
                  <a:cubicBezTo>
                    <a:pt x="28611" y="1776063"/>
                    <a:pt x="0" y="1747452"/>
                    <a:pt x="0" y="1712159"/>
                  </a:cubicBezTo>
                  <a:lnTo>
                    <a:pt x="0" y="63904"/>
                  </a:lnTo>
                  <a:cubicBezTo>
                    <a:pt x="0" y="28611"/>
                    <a:pt x="28611" y="0"/>
                    <a:pt x="63904" y="0"/>
                  </a:cubicBezTo>
                  <a:close/>
                </a:path>
              </a:pathLst>
            </a:custGeom>
            <a:solidFill>
              <a:srgbClr val="F26B0F"/>
            </a:solidFill>
          </p:spPr>
        </p:sp>
        <p:sp>
          <p:nvSpPr>
            <p:cNvPr id="6" name="TextBox 6"/>
            <p:cNvSpPr txBox="1"/>
            <p:nvPr/>
          </p:nvSpPr>
          <p:spPr>
            <a:xfrm>
              <a:off x="0" y="-38100"/>
              <a:ext cx="3190771" cy="1814163"/>
            </a:xfrm>
            <a:prstGeom prst="rect">
              <a:avLst/>
            </a:prstGeom>
          </p:spPr>
          <p:txBody>
            <a:bodyPr lIns="50800" tIns="50800" rIns="50800" bIns="50800" rtlCol="0" anchor="ctr"/>
            <a:lstStyle/>
            <a:p>
              <a:pPr marL="0" lvl="0" indent="0" algn="ctr">
                <a:lnSpc>
                  <a:spcPts val="2659"/>
                </a:lnSpc>
              </a:pPr>
              <a:endParaRPr/>
            </a:p>
          </p:txBody>
        </p:sp>
      </p:grpSp>
      <p:grpSp>
        <p:nvGrpSpPr>
          <p:cNvPr id="7" name="Group 7"/>
          <p:cNvGrpSpPr/>
          <p:nvPr/>
        </p:nvGrpSpPr>
        <p:grpSpPr>
          <a:xfrm>
            <a:off x="-2889006" y="9505950"/>
            <a:ext cx="24066013" cy="1382536"/>
            <a:chOff x="0" y="0"/>
            <a:chExt cx="6338374" cy="364125"/>
          </a:xfrm>
        </p:grpSpPr>
        <p:sp>
          <p:nvSpPr>
            <p:cNvPr id="8" name="Freeform 8"/>
            <p:cNvSpPr/>
            <p:nvPr/>
          </p:nvSpPr>
          <p:spPr>
            <a:xfrm>
              <a:off x="0" y="0"/>
              <a:ext cx="6338374" cy="364125"/>
            </a:xfrm>
            <a:custGeom>
              <a:avLst/>
              <a:gdLst/>
              <a:ahLst/>
              <a:cxnLst/>
              <a:rect l="l" t="t" r="r" b="b"/>
              <a:pathLst>
                <a:path w="6338374" h="364125">
                  <a:moveTo>
                    <a:pt x="3169187" y="0"/>
                  </a:moveTo>
                  <a:cubicBezTo>
                    <a:pt x="1418893" y="0"/>
                    <a:pt x="0" y="81512"/>
                    <a:pt x="0" y="182062"/>
                  </a:cubicBezTo>
                  <a:cubicBezTo>
                    <a:pt x="0" y="282613"/>
                    <a:pt x="1418893" y="364125"/>
                    <a:pt x="3169187" y="364125"/>
                  </a:cubicBezTo>
                  <a:cubicBezTo>
                    <a:pt x="4919480" y="364125"/>
                    <a:pt x="6338374" y="282613"/>
                    <a:pt x="6338374" y="182062"/>
                  </a:cubicBezTo>
                  <a:cubicBezTo>
                    <a:pt x="6338374" y="81512"/>
                    <a:pt x="4919480" y="0"/>
                    <a:pt x="3169187" y="0"/>
                  </a:cubicBezTo>
                  <a:close/>
                </a:path>
              </a:pathLst>
            </a:custGeom>
            <a:solidFill>
              <a:srgbClr val="FFDE59"/>
            </a:solidFill>
          </p:spPr>
        </p:sp>
        <p:sp>
          <p:nvSpPr>
            <p:cNvPr id="9" name="TextBox 9"/>
            <p:cNvSpPr txBox="1"/>
            <p:nvPr/>
          </p:nvSpPr>
          <p:spPr>
            <a:xfrm>
              <a:off x="594223" y="-3963"/>
              <a:ext cx="5149929" cy="333951"/>
            </a:xfrm>
            <a:prstGeom prst="rect">
              <a:avLst/>
            </a:prstGeom>
          </p:spPr>
          <p:txBody>
            <a:bodyPr lIns="50800" tIns="50800" rIns="50800" bIns="50800" rtlCol="0" anchor="ctr"/>
            <a:lstStyle/>
            <a:p>
              <a:pPr marL="0" lvl="0" indent="0" algn="ctr">
                <a:lnSpc>
                  <a:spcPts val="2659"/>
                </a:lnSpc>
              </a:pPr>
              <a:endParaRPr/>
            </a:p>
          </p:txBody>
        </p:sp>
      </p:grpSp>
      <p:sp>
        <p:nvSpPr>
          <p:cNvPr id="10" name="Freeform 10"/>
          <p:cNvSpPr/>
          <p:nvPr/>
        </p:nvSpPr>
        <p:spPr>
          <a:xfrm rot="-4692927">
            <a:off x="15942077" y="6983234"/>
            <a:ext cx="1516023" cy="2173509"/>
          </a:xfrm>
          <a:custGeom>
            <a:avLst/>
            <a:gdLst/>
            <a:ahLst/>
            <a:cxnLst/>
            <a:rect l="l" t="t" r="r" b="b"/>
            <a:pathLst>
              <a:path w="1516023" h="2173509">
                <a:moveTo>
                  <a:pt x="0" y="0"/>
                </a:moveTo>
                <a:lnTo>
                  <a:pt x="1516022" y="0"/>
                </a:lnTo>
                <a:lnTo>
                  <a:pt x="1516022" y="2173509"/>
                </a:lnTo>
                <a:lnTo>
                  <a:pt x="0" y="21735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rot="4946724">
            <a:off x="13895430" y="137950"/>
            <a:ext cx="1242597" cy="1781501"/>
          </a:xfrm>
          <a:custGeom>
            <a:avLst/>
            <a:gdLst/>
            <a:ahLst/>
            <a:cxnLst/>
            <a:rect l="l" t="t" r="r" b="b"/>
            <a:pathLst>
              <a:path w="1242597" h="1781501">
                <a:moveTo>
                  <a:pt x="0" y="0"/>
                </a:moveTo>
                <a:lnTo>
                  <a:pt x="1242596" y="0"/>
                </a:lnTo>
                <a:lnTo>
                  <a:pt x="1242596" y="1781500"/>
                </a:lnTo>
                <a:lnTo>
                  <a:pt x="0" y="17815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a:off x="3108021" y="4860354"/>
            <a:ext cx="5743459" cy="3209634"/>
          </a:xfrm>
          <a:custGeom>
            <a:avLst/>
            <a:gdLst/>
            <a:ahLst/>
            <a:cxnLst/>
            <a:rect l="l" t="t" r="r" b="b"/>
            <a:pathLst>
              <a:path w="5743459" h="3209634">
                <a:moveTo>
                  <a:pt x="0" y="0"/>
                </a:moveTo>
                <a:lnTo>
                  <a:pt x="5743459" y="0"/>
                </a:lnTo>
                <a:lnTo>
                  <a:pt x="5743459" y="3209635"/>
                </a:lnTo>
                <a:lnTo>
                  <a:pt x="0" y="3209635"/>
                </a:lnTo>
                <a:lnTo>
                  <a:pt x="0" y="0"/>
                </a:lnTo>
                <a:close/>
              </a:path>
            </a:pathLst>
          </a:custGeom>
          <a:blipFill>
            <a:blip r:embed="rId4"/>
            <a:stretch>
              <a:fillRect l="-3905"/>
            </a:stretch>
          </a:blipFill>
        </p:spPr>
      </p:sp>
      <p:sp>
        <p:nvSpPr>
          <p:cNvPr id="13" name="Freeform 13"/>
          <p:cNvSpPr/>
          <p:nvPr/>
        </p:nvSpPr>
        <p:spPr>
          <a:xfrm>
            <a:off x="14348558" y="3789883"/>
            <a:ext cx="2424401" cy="1794057"/>
          </a:xfrm>
          <a:custGeom>
            <a:avLst/>
            <a:gdLst/>
            <a:ahLst/>
            <a:cxnLst/>
            <a:rect l="l" t="t" r="r" b="b"/>
            <a:pathLst>
              <a:path w="2424401" h="1794057">
                <a:moveTo>
                  <a:pt x="0" y="0"/>
                </a:moveTo>
                <a:lnTo>
                  <a:pt x="2424401" y="0"/>
                </a:lnTo>
                <a:lnTo>
                  <a:pt x="2424401" y="1794057"/>
                </a:lnTo>
                <a:lnTo>
                  <a:pt x="0" y="179405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3956084" y="2077080"/>
            <a:ext cx="4806916" cy="399405"/>
          </a:xfrm>
          <a:prstGeom prst="rect">
            <a:avLst/>
          </a:prstGeom>
        </p:spPr>
        <p:txBody>
          <a:bodyPr wrap="square" lIns="0" tIns="0" rIns="0" bIns="0" rtlCol="0" anchor="t">
            <a:spAutoFit/>
          </a:bodyPr>
          <a:lstStyle/>
          <a:p>
            <a:pPr algn="ctr">
              <a:lnSpc>
                <a:spcPts val="3359"/>
              </a:lnSpc>
              <a:spcBef>
                <a:spcPct val="0"/>
              </a:spcBef>
            </a:pPr>
            <a:r>
              <a:rPr lang="en-US" sz="2399" b="1" dirty="0">
                <a:solidFill>
                  <a:srgbClr val="FFFFFF"/>
                </a:solidFill>
                <a:latin typeface="Inter Bold"/>
                <a:ea typeface="Inter Bold"/>
                <a:cs typeface="Inter Bold"/>
                <a:sym typeface="Inter Bold"/>
              </a:rPr>
              <a:t>Attrition by Education Field</a:t>
            </a:r>
          </a:p>
        </p:txBody>
      </p:sp>
      <p:sp>
        <p:nvSpPr>
          <p:cNvPr id="15" name="TextBox 15"/>
          <p:cNvSpPr txBox="1"/>
          <p:nvPr/>
        </p:nvSpPr>
        <p:spPr>
          <a:xfrm>
            <a:off x="1028700" y="3193935"/>
            <a:ext cx="9664898" cy="1153795"/>
          </a:xfrm>
          <a:prstGeom prst="rect">
            <a:avLst/>
          </a:prstGeom>
        </p:spPr>
        <p:txBody>
          <a:bodyPr lIns="0" tIns="0" rIns="0" bIns="0" rtlCol="0" anchor="t">
            <a:spAutoFit/>
          </a:bodyPr>
          <a:lstStyle/>
          <a:p>
            <a:pPr algn="just">
              <a:lnSpc>
                <a:spcPts val="3079"/>
              </a:lnSpc>
            </a:pPr>
            <a:r>
              <a:rPr lang="en-US" sz="2199" b="1" dirty="0">
                <a:solidFill>
                  <a:srgbClr val="FFFFFF"/>
                </a:solidFill>
                <a:latin typeface="Inter Bold"/>
                <a:ea typeface="Inter Bold"/>
                <a:cs typeface="Inter Bold"/>
                <a:sym typeface="Inter Bold"/>
              </a:rPr>
              <a:t>Life Sciences (41%) and Medical (32%) backgrounds together account </a:t>
            </a:r>
          </a:p>
          <a:p>
            <a:pPr algn="just">
              <a:lnSpc>
                <a:spcPts val="3079"/>
              </a:lnSpc>
            </a:pPr>
            <a:r>
              <a:rPr lang="en-US" sz="2199" b="1" dirty="0">
                <a:solidFill>
                  <a:srgbClr val="FFFFFF"/>
                </a:solidFill>
                <a:latin typeface="Inter Bold"/>
                <a:ea typeface="Inter Bold"/>
                <a:cs typeface="Inter Bold"/>
                <a:sym typeface="Inter Bold"/>
              </a:rPr>
              <a:t>for nearly three-fourths of all attrition, far higher than Marketing,</a:t>
            </a:r>
          </a:p>
          <a:p>
            <a:pPr algn="just">
              <a:lnSpc>
                <a:spcPts val="3079"/>
              </a:lnSpc>
              <a:spcBef>
                <a:spcPct val="0"/>
              </a:spcBef>
            </a:pPr>
            <a:r>
              <a:rPr lang="en-US" sz="2199" b="1" dirty="0">
                <a:solidFill>
                  <a:srgbClr val="FFFFFF"/>
                </a:solidFill>
                <a:latin typeface="Inter Bold"/>
                <a:ea typeface="Inter Bold"/>
                <a:cs typeface="Inter Bold"/>
                <a:sym typeface="Inter Bold"/>
              </a:rPr>
              <a:t> Technical Degree, Other, or HR.</a:t>
            </a:r>
          </a:p>
        </p:txBody>
      </p:sp>
      <p:sp>
        <p:nvSpPr>
          <p:cNvPr id="16" name="Freeform 16"/>
          <p:cNvSpPr/>
          <p:nvPr/>
        </p:nvSpPr>
        <p:spPr>
          <a:xfrm>
            <a:off x="658528" y="487489"/>
            <a:ext cx="1082422" cy="1082422"/>
          </a:xfrm>
          <a:custGeom>
            <a:avLst/>
            <a:gdLst/>
            <a:ahLst/>
            <a:cxnLst/>
            <a:rect l="l" t="t" r="r" b="b"/>
            <a:pathLst>
              <a:path w="1082422" h="1082422">
                <a:moveTo>
                  <a:pt x="0" y="0"/>
                </a:moveTo>
                <a:lnTo>
                  <a:pt x="1082422" y="0"/>
                </a:lnTo>
                <a:lnTo>
                  <a:pt x="1082422" y="1082422"/>
                </a:lnTo>
                <a:lnTo>
                  <a:pt x="0" y="1082422"/>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sp>
        <p:nvSpPr>
          <p:cNvPr id="2" name="Freeform 2"/>
          <p:cNvSpPr/>
          <p:nvPr/>
        </p:nvSpPr>
        <p:spPr>
          <a:xfrm>
            <a:off x="8542933"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744067"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563092" y="1771756"/>
            <a:ext cx="12466770" cy="6743489"/>
            <a:chOff x="0" y="0"/>
            <a:chExt cx="3283429" cy="1776063"/>
          </a:xfrm>
        </p:grpSpPr>
        <p:sp>
          <p:nvSpPr>
            <p:cNvPr id="5" name="Freeform 5"/>
            <p:cNvSpPr/>
            <p:nvPr/>
          </p:nvSpPr>
          <p:spPr>
            <a:xfrm>
              <a:off x="0" y="0"/>
              <a:ext cx="3283429" cy="1776063"/>
            </a:xfrm>
            <a:custGeom>
              <a:avLst/>
              <a:gdLst/>
              <a:ahLst/>
              <a:cxnLst/>
              <a:rect l="l" t="t" r="r" b="b"/>
              <a:pathLst>
                <a:path w="3283429" h="1776063">
                  <a:moveTo>
                    <a:pt x="62100" y="0"/>
                  </a:moveTo>
                  <a:lnTo>
                    <a:pt x="3221329" y="0"/>
                  </a:lnTo>
                  <a:cubicBezTo>
                    <a:pt x="3255626" y="0"/>
                    <a:pt x="3283429" y="27803"/>
                    <a:pt x="3283429" y="62100"/>
                  </a:cubicBezTo>
                  <a:lnTo>
                    <a:pt x="3283429" y="1713962"/>
                  </a:lnTo>
                  <a:cubicBezTo>
                    <a:pt x="3283429" y="1748260"/>
                    <a:pt x="3255626" y="1776063"/>
                    <a:pt x="3221329" y="1776063"/>
                  </a:cubicBezTo>
                  <a:lnTo>
                    <a:pt x="62100" y="1776063"/>
                  </a:lnTo>
                  <a:cubicBezTo>
                    <a:pt x="27803" y="1776063"/>
                    <a:pt x="0" y="1748260"/>
                    <a:pt x="0" y="1713962"/>
                  </a:cubicBezTo>
                  <a:lnTo>
                    <a:pt x="0" y="62100"/>
                  </a:lnTo>
                  <a:cubicBezTo>
                    <a:pt x="0" y="27803"/>
                    <a:pt x="27803" y="0"/>
                    <a:pt x="62100" y="0"/>
                  </a:cubicBezTo>
                  <a:close/>
                </a:path>
              </a:pathLst>
            </a:custGeom>
            <a:solidFill>
              <a:srgbClr val="F26B0F"/>
            </a:solidFill>
          </p:spPr>
        </p:sp>
        <p:sp>
          <p:nvSpPr>
            <p:cNvPr id="6" name="TextBox 6"/>
            <p:cNvSpPr txBox="1"/>
            <p:nvPr/>
          </p:nvSpPr>
          <p:spPr>
            <a:xfrm>
              <a:off x="0" y="-38100"/>
              <a:ext cx="3283429" cy="1814163"/>
            </a:xfrm>
            <a:prstGeom prst="rect">
              <a:avLst/>
            </a:prstGeom>
          </p:spPr>
          <p:txBody>
            <a:bodyPr lIns="50800" tIns="50800" rIns="50800" bIns="50800" rtlCol="0" anchor="ctr"/>
            <a:lstStyle/>
            <a:p>
              <a:pPr marL="0" lvl="0" indent="0" algn="ctr">
                <a:lnSpc>
                  <a:spcPts val="2659"/>
                </a:lnSpc>
              </a:pPr>
              <a:endParaRPr/>
            </a:p>
          </p:txBody>
        </p:sp>
      </p:grpSp>
      <p:grpSp>
        <p:nvGrpSpPr>
          <p:cNvPr id="7" name="Group 7"/>
          <p:cNvGrpSpPr/>
          <p:nvPr/>
        </p:nvGrpSpPr>
        <p:grpSpPr>
          <a:xfrm>
            <a:off x="-2889006" y="9505950"/>
            <a:ext cx="24066013" cy="1382536"/>
            <a:chOff x="0" y="0"/>
            <a:chExt cx="6338374" cy="364125"/>
          </a:xfrm>
        </p:grpSpPr>
        <p:sp>
          <p:nvSpPr>
            <p:cNvPr id="8" name="Freeform 8"/>
            <p:cNvSpPr/>
            <p:nvPr/>
          </p:nvSpPr>
          <p:spPr>
            <a:xfrm>
              <a:off x="0" y="0"/>
              <a:ext cx="6338374" cy="364125"/>
            </a:xfrm>
            <a:custGeom>
              <a:avLst/>
              <a:gdLst/>
              <a:ahLst/>
              <a:cxnLst/>
              <a:rect l="l" t="t" r="r" b="b"/>
              <a:pathLst>
                <a:path w="6338374" h="364125">
                  <a:moveTo>
                    <a:pt x="3169187" y="0"/>
                  </a:moveTo>
                  <a:cubicBezTo>
                    <a:pt x="1418893" y="0"/>
                    <a:pt x="0" y="81512"/>
                    <a:pt x="0" y="182062"/>
                  </a:cubicBezTo>
                  <a:cubicBezTo>
                    <a:pt x="0" y="282613"/>
                    <a:pt x="1418893" y="364125"/>
                    <a:pt x="3169187" y="364125"/>
                  </a:cubicBezTo>
                  <a:cubicBezTo>
                    <a:pt x="4919480" y="364125"/>
                    <a:pt x="6338374" y="282613"/>
                    <a:pt x="6338374" y="182062"/>
                  </a:cubicBezTo>
                  <a:cubicBezTo>
                    <a:pt x="6338374" y="81512"/>
                    <a:pt x="4919480" y="0"/>
                    <a:pt x="3169187" y="0"/>
                  </a:cubicBezTo>
                  <a:close/>
                </a:path>
              </a:pathLst>
            </a:custGeom>
            <a:solidFill>
              <a:srgbClr val="FFDE59"/>
            </a:solidFill>
          </p:spPr>
        </p:sp>
        <p:sp>
          <p:nvSpPr>
            <p:cNvPr id="9" name="TextBox 9"/>
            <p:cNvSpPr txBox="1"/>
            <p:nvPr/>
          </p:nvSpPr>
          <p:spPr>
            <a:xfrm>
              <a:off x="594223" y="-3963"/>
              <a:ext cx="5149929" cy="333951"/>
            </a:xfrm>
            <a:prstGeom prst="rect">
              <a:avLst/>
            </a:prstGeom>
          </p:spPr>
          <p:txBody>
            <a:bodyPr lIns="50800" tIns="50800" rIns="50800" bIns="50800" rtlCol="0" anchor="ctr"/>
            <a:lstStyle/>
            <a:p>
              <a:pPr marL="0" lvl="0" indent="0" algn="ctr">
                <a:lnSpc>
                  <a:spcPts val="2659"/>
                </a:lnSpc>
              </a:pPr>
              <a:endParaRPr/>
            </a:p>
          </p:txBody>
        </p:sp>
      </p:grpSp>
      <p:sp>
        <p:nvSpPr>
          <p:cNvPr id="10" name="Freeform 10"/>
          <p:cNvSpPr/>
          <p:nvPr/>
        </p:nvSpPr>
        <p:spPr>
          <a:xfrm rot="-4692927">
            <a:off x="15942077" y="6983234"/>
            <a:ext cx="1516023" cy="2173509"/>
          </a:xfrm>
          <a:custGeom>
            <a:avLst/>
            <a:gdLst/>
            <a:ahLst/>
            <a:cxnLst/>
            <a:rect l="l" t="t" r="r" b="b"/>
            <a:pathLst>
              <a:path w="1516023" h="2173509">
                <a:moveTo>
                  <a:pt x="0" y="0"/>
                </a:moveTo>
                <a:lnTo>
                  <a:pt x="1516022" y="0"/>
                </a:lnTo>
                <a:lnTo>
                  <a:pt x="1516022" y="2173509"/>
                </a:lnTo>
                <a:lnTo>
                  <a:pt x="0" y="21735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rot="4946724">
            <a:off x="13895430" y="137950"/>
            <a:ext cx="1242597" cy="1781501"/>
          </a:xfrm>
          <a:custGeom>
            <a:avLst/>
            <a:gdLst/>
            <a:ahLst/>
            <a:cxnLst/>
            <a:rect l="l" t="t" r="r" b="b"/>
            <a:pathLst>
              <a:path w="1242597" h="1781501">
                <a:moveTo>
                  <a:pt x="0" y="0"/>
                </a:moveTo>
                <a:lnTo>
                  <a:pt x="1242596" y="0"/>
                </a:lnTo>
                <a:lnTo>
                  <a:pt x="1242596" y="1781500"/>
                </a:lnTo>
                <a:lnTo>
                  <a:pt x="0" y="17815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a:off x="3378452" y="4721744"/>
            <a:ext cx="5637460" cy="3348245"/>
          </a:xfrm>
          <a:custGeom>
            <a:avLst/>
            <a:gdLst/>
            <a:ahLst/>
            <a:cxnLst/>
            <a:rect l="l" t="t" r="r" b="b"/>
            <a:pathLst>
              <a:path w="5637460" h="3348245">
                <a:moveTo>
                  <a:pt x="0" y="0"/>
                </a:moveTo>
                <a:lnTo>
                  <a:pt x="5637461" y="0"/>
                </a:lnTo>
                <a:lnTo>
                  <a:pt x="5637461" y="3348245"/>
                </a:lnTo>
                <a:lnTo>
                  <a:pt x="0" y="3348245"/>
                </a:lnTo>
                <a:lnTo>
                  <a:pt x="0" y="0"/>
                </a:lnTo>
                <a:close/>
              </a:path>
            </a:pathLst>
          </a:custGeom>
          <a:blipFill>
            <a:blip r:embed="rId4"/>
            <a:stretch>
              <a:fillRect/>
            </a:stretch>
          </a:blipFill>
        </p:spPr>
      </p:sp>
      <p:sp>
        <p:nvSpPr>
          <p:cNvPr id="13" name="Freeform 13"/>
          <p:cNvSpPr/>
          <p:nvPr/>
        </p:nvSpPr>
        <p:spPr>
          <a:xfrm>
            <a:off x="14516728" y="3637897"/>
            <a:ext cx="2449372" cy="2167694"/>
          </a:xfrm>
          <a:custGeom>
            <a:avLst/>
            <a:gdLst/>
            <a:ahLst/>
            <a:cxnLst/>
            <a:rect l="l" t="t" r="r" b="b"/>
            <a:pathLst>
              <a:path w="2449372" h="2167694">
                <a:moveTo>
                  <a:pt x="0" y="0"/>
                </a:moveTo>
                <a:lnTo>
                  <a:pt x="2449372" y="0"/>
                </a:lnTo>
                <a:lnTo>
                  <a:pt x="2449372" y="2167694"/>
                </a:lnTo>
                <a:lnTo>
                  <a:pt x="0" y="216769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3558008" y="2014128"/>
            <a:ext cx="5204991" cy="399405"/>
          </a:xfrm>
          <a:prstGeom prst="rect">
            <a:avLst/>
          </a:prstGeom>
        </p:spPr>
        <p:txBody>
          <a:bodyPr wrap="square" lIns="0" tIns="0" rIns="0" bIns="0" rtlCol="0" anchor="t">
            <a:spAutoFit/>
          </a:bodyPr>
          <a:lstStyle/>
          <a:p>
            <a:pPr algn="ctr">
              <a:lnSpc>
                <a:spcPts val="3359"/>
              </a:lnSpc>
              <a:spcBef>
                <a:spcPct val="0"/>
              </a:spcBef>
            </a:pPr>
            <a:r>
              <a:rPr lang="en-US" sz="2399" b="1" dirty="0">
                <a:solidFill>
                  <a:srgbClr val="FFFFFF"/>
                </a:solidFill>
                <a:latin typeface="Inter Bold"/>
                <a:ea typeface="Inter Bold"/>
                <a:cs typeface="Inter Bold"/>
                <a:sym typeface="Inter Bold"/>
              </a:rPr>
              <a:t>Attrition by Years at Company</a:t>
            </a:r>
          </a:p>
        </p:txBody>
      </p:sp>
      <p:sp>
        <p:nvSpPr>
          <p:cNvPr id="15" name="TextBox 15"/>
          <p:cNvSpPr txBox="1"/>
          <p:nvPr/>
        </p:nvSpPr>
        <p:spPr>
          <a:xfrm>
            <a:off x="887835" y="3214587"/>
            <a:ext cx="10770765" cy="1210166"/>
          </a:xfrm>
          <a:prstGeom prst="rect">
            <a:avLst/>
          </a:prstGeom>
        </p:spPr>
        <p:txBody>
          <a:bodyPr wrap="square" lIns="0" tIns="0" rIns="0" bIns="0" rtlCol="0" anchor="t">
            <a:spAutoFit/>
          </a:bodyPr>
          <a:lstStyle/>
          <a:p>
            <a:pPr algn="l">
              <a:lnSpc>
                <a:spcPts val="3209"/>
              </a:lnSpc>
            </a:pPr>
            <a:r>
              <a:rPr lang="en-US" sz="2292" b="1" dirty="0">
                <a:solidFill>
                  <a:srgbClr val="FFFFFF"/>
                </a:solidFill>
                <a:latin typeface="Inter Bold"/>
                <a:ea typeface="Inter Bold"/>
                <a:cs typeface="Inter Bold"/>
                <a:sym typeface="Inter Bold"/>
              </a:rPr>
              <a:t>Attrition spikes sharply in year 1 (59 exits) — nearly triple any other year — </a:t>
            </a:r>
          </a:p>
          <a:p>
            <a:pPr algn="l">
              <a:lnSpc>
                <a:spcPts val="3209"/>
              </a:lnSpc>
              <a:spcBef>
                <a:spcPct val="0"/>
              </a:spcBef>
            </a:pPr>
            <a:r>
              <a:rPr lang="en-US" sz="2292" b="1" dirty="0">
                <a:solidFill>
                  <a:srgbClr val="FFFFFF"/>
                </a:solidFill>
                <a:latin typeface="Inter Bold"/>
                <a:ea typeface="Inter Bold"/>
                <a:cs typeface="Inter Bold"/>
                <a:sym typeface="Inter Bold"/>
              </a:rPr>
              <a:t>then steadily declines, showing that most employee exits happen early in their tenure.</a:t>
            </a:r>
          </a:p>
        </p:txBody>
      </p:sp>
      <p:sp>
        <p:nvSpPr>
          <p:cNvPr id="16" name="Freeform 16"/>
          <p:cNvSpPr/>
          <p:nvPr/>
        </p:nvSpPr>
        <p:spPr>
          <a:xfrm>
            <a:off x="563092" y="437179"/>
            <a:ext cx="1183043" cy="1183043"/>
          </a:xfrm>
          <a:custGeom>
            <a:avLst/>
            <a:gdLst/>
            <a:ahLst/>
            <a:cxnLst/>
            <a:rect l="l" t="t" r="r" b="b"/>
            <a:pathLst>
              <a:path w="1183043" h="1183043">
                <a:moveTo>
                  <a:pt x="0" y="0"/>
                </a:moveTo>
                <a:lnTo>
                  <a:pt x="1183043" y="0"/>
                </a:lnTo>
                <a:lnTo>
                  <a:pt x="1183043" y="1183042"/>
                </a:lnTo>
                <a:lnTo>
                  <a:pt x="0" y="1183042"/>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sp>
        <p:nvSpPr>
          <p:cNvPr id="2" name="Freeform 2"/>
          <p:cNvSpPr/>
          <p:nvPr/>
        </p:nvSpPr>
        <p:spPr>
          <a:xfrm>
            <a:off x="8542933"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744067"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563092" y="1771756"/>
            <a:ext cx="12187832" cy="7262217"/>
            <a:chOff x="0" y="0"/>
            <a:chExt cx="3209964" cy="1912683"/>
          </a:xfrm>
        </p:grpSpPr>
        <p:sp>
          <p:nvSpPr>
            <p:cNvPr id="5" name="Freeform 5"/>
            <p:cNvSpPr/>
            <p:nvPr/>
          </p:nvSpPr>
          <p:spPr>
            <a:xfrm>
              <a:off x="0" y="0"/>
              <a:ext cx="3209964" cy="1912683"/>
            </a:xfrm>
            <a:custGeom>
              <a:avLst/>
              <a:gdLst/>
              <a:ahLst/>
              <a:cxnLst/>
              <a:rect l="l" t="t" r="r" b="b"/>
              <a:pathLst>
                <a:path w="3209964" h="1912683">
                  <a:moveTo>
                    <a:pt x="63522" y="0"/>
                  </a:moveTo>
                  <a:lnTo>
                    <a:pt x="3146442" y="0"/>
                  </a:lnTo>
                  <a:cubicBezTo>
                    <a:pt x="3163289" y="0"/>
                    <a:pt x="3179446" y="6692"/>
                    <a:pt x="3191359" y="18605"/>
                  </a:cubicBezTo>
                  <a:cubicBezTo>
                    <a:pt x="3203272" y="30518"/>
                    <a:pt x="3209964" y="46675"/>
                    <a:pt x="3209964" y="63522"/>
                  </a:cubicBezTo>
                  <a:lnTo>
                    <a:pt x="3209964" y="1849161"/>
                  </a:lnTo>
                  <a:cubicBezTo>
                    <a:pt x="3209964" y="1884243"/>
                    <a:pt x="3181524" y="1912683"/>
                    <a:pt x="3146442" y="1912683"/>
                  </a:cubicBezTo>
                  <a:lnTo>
                    <a:pt x="63522" y="1912683"/>
                  </a:lnTo>
                  <a:cubicBezTo>
                    <a:pt x="46675" y="1912683"/>
                    <a:pt x="30518" y="1905990"/>
                    <a:pt x="18605" y="1894078"/>
                  </a:cubicBezTo>
                  <a:cubicBezTo>
                    <a:pt x="6692" y="1882165"/>
                    <a:pt x="0" y="1866008"/>
                    <a:pt x="0" y="1849161"/>
                  </a:cubicBezTo>
                  <a:lnTo>
                    <a:pt x="0" y="63522"/>
                  </a:lnTo>
                  <a:cubicBezTo>
                    <a:pt x="0" y="28440"/>
                    <a:pt x="28440" y="0"/>
                    <a:pt x="63522" y="0"/>
                  </a:cubicBezTo>
                  <a:close/>
                </a:path>
              </a:pathLst>
            </a:custGeom>
            <a:solidFill>
              <a:srgbClr val="F26B0F"/>
            </a:solidFill>
          </p:spPr>
        </p:sp>
        <p:sp>
          <p:nvSpPr>
            <p:cNvPr id="6" name="TextBox 6"/>
            <p:cNvSpPr txBox="1"/>
            <p:nvPr/>
          </p:nvSpPr>
          <p:spPr>
            <a:xfrm>
              <a:off x="0" y="-38100"/>
              <a:ext cx="3209964" cy="1950783"/>
            </a:xfrm>
            <a:prstGeom prst="rect">
              <a:avLst/>
            </a:prstGeom>
          </p:spPr>
          <p:txBody>
            <a:bodyPr lIns="50800" tIns="50800" rIns="50800" bIns="50800" rtlCol="0" anchor="ctr"/>
            <a:lstStyle/>
            <a:p>
              <a:pPr marL="0" lvl="0" indent="0" algn="ctr">
                <a:lnSpc>
                  <a:spcPts val="2659"/>
                </a:lnSpc>
              </a:pPr>
              <a:endParaRPr/>
            </a:p>
          </p:txBody>
        </p:sp>
      </p:grpSp>
      <p:grpSp>
        <p:nvGrpSpPr>
          <p:cNvPr id="7" name="Group 7"/>
          <p:cNvGrpSpPr/>
          <p:nvPr/>
        </p:nvGrpSpPr>
        <p:grpSpPr>
          <a:xfrm>
            <a:off x="-2889006" y="9505950"/>
            <a:ext cx="24066013" cy="1382536"/>
            <a:chOff x="0" y="0"/>
            <a:chExt cx="6338374" cy="364125"/>
          </a:xfrm>
        </p:grpSpPr>
        <p:sp>
          <p:nvSpPr>
            <p:cNvPr id="8" name="Freeform 8"/>
            <p:cNvSpPr/>
            <p:nvPr/>
          </p:nvSpPr>
          <p:spPr>
            <a:xfrm>
              <a:off x="0" y="0"/>
              <a:ext cx="6338374" cy="364125"/>
            </a:xfrm>
            <a:custGeom>
              <a:avLst/>
              <a:gdLst/>
              <a:ahLst/>
              <a:cxnLst/>
              <a:rect l="l" t="t" r="r" b="b"/>
              <a:pathLst>
                <a:path w="6338374" h="364125">
                  <a:moveTo>
                    <a:pt x="3169187" y="0"/>
                  </a:moveTo>
                  <a:cubicBezTo>
                    <a:pt x="1418893" y="0"/>
                    <a:pt x="0" y="81512"/>
                    <a:pt x="0" y="182062"/>
                  </a:cubicBezTo>
                  <a:cubicBezTo>
                    <a:pt x="0" y="282613"/>
                    <a:pt x="1418893" y="364125"/>
                    <a:pt x="3169187" y="364125"/>
                  </a:cubicBezTo>
                  <a:cubicBezTo>
                    <a:pt x="4919480" y="364125"/>
                    <a:pt x="6338374" y="282613"/>
                    <a:pt x="6338374" y="182062"/>
                  </a:cubicBezTo>
                  <a:cubicBezTo>
                    <a:pt x="6338374" y="81512"/>
                    <a:pt x="4919480" y="0"/>
                    <a:pt x="3169187" y="0"/>
                  </a:cubicBezTo>
                  <a:close/>
                </a:path>
              </a:pathLst>
            </a:custGeom>
            <a:solidFill>
              <a:srgbClr val="FFDE59"/>
            </a:solidFill>
          </p:spPr>
        </p:sp>
        <p:sp>
          <p:nvSpPr>
            <p:cNvPr id="9" name="TextBox 9"/>
            <p:cNvSpPr txBox="1"/>
            <p:nvPr/>
          </p:nvSpPr>
          <p:spPr>
            <a:xfrm>
              <a:off x="594223" y="-3963"/>
              <a:ext cx="5149929" cy="333951"/>
            </a:xfrm>
            <a:prstGeom prst="rect">
              <a:avLst/>
            </a:prstGeom>
          </p:spPr>
          <p:txBody>
            <a:bodyPr lIns="50800" tIns="50800" rIns="50800" bIns="50800" rtlCol="0" anchor="ctr"/>
            <a:lstStyle/>
            <a:p>
              <a:pPr marL="0" lvl="0" indent="0" algn="ctr">
                <a:lnSpc>
                  <a:spcPts val="2659"/>
                </a:lnSpc>
              </a:pPr>
              <a:endParaRPr/>
            </a:p>
          </p:txBody>
        </p:sp>
      </p:grpSp>
      <p:sp>
        <p:nvSpPr>
          <p:cNvPr id="10" name="Freeform 10"/>
          <p:cNvSpPr/>
          <p:nvPr/>
        </p:nvSpPr>
        <p:spPr>
          <a:xfrm rot="-4692927">
            <a:off x="15942077" y="6983234"/>
            <a:ext cx="1516023" cy="2173509"/>
          </a:xfrm>
          <a:custGeom>
            <a:avLst/>
            <a:gdLst/>
            <a:ahLst/>
            <a:cxnLst/>
            <a:rect l="l" t="t" r="r" b="b"/>
            <a:pathLst>
              <a:path w="1516023" h="2173509">
                <a:moveTo>
                  <a:pt x="0" y="0"/>
                </a:moveTo>
                <a:lnTo>
                  <a:pt x="1516022" y="0"/>
                </a:lnTo>
                <a:lnTo>
                  <a:pt x="1516022" y="2173509"/>
                </a:lnTo>
                <a:lnTo>
                  <a:pt x="0" y="21735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rot="4946724">
            <a:off x="13895430" y="147992"/>
            <a:ext cx="1242597" cy="1781501"/>
          </a:xfrm>
          <a:custGeom>
            <a:avLst/>
            <a:gdLst/>
            <a:ahLst/>
            <a:cxnLst/>
            <a:rect l="l" t="t" r="r" b="b"/>
            <a:pathLst>
              <a:path w="1242597" h="1781501">
                <a:moveTo>
                  <a:pt x="0" y="0"/>
                </a:moveTo>
                <a:lnTo>
                  <a:pt x="1242596" y="0"/>
                </a:lnTo>
                <a:lnTo>
                  <a:pt x="1242596" y="1781501"/>
                </a:lnTo>
                <a:lnTo>
                  <a:pt x="0" y="178150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a:off x="3053678" y="4117641"/>
            <a:ext cx="6545298" cy="4577931"/>
          </a:xfrm>
          <a:custGeom>
            <a:avLst/>
            <a:gdLst/>
            <a:ahLst/>
            <a:cxnLst/>
            <a:rect l="l" t="t" r="r" b="b"/>
            <a:pathLst>
              <a:path w="6545298" h="4577931">
                <a:moveTo>
                  <a:pt x="0" y="0"/>
                </a:moveTo>
                <a:lnTo>
                  <a:pt x="6545298" y="0"/>
                </a:lnTo>
                <a:lnTo>
                  <a:pt x="6545298" y="4577931"/>
                </a:lnTo>
                <a:lnTo>
                  <a:pt x="0" y="4577931"/>
                </a:lnTo>
                <a:lnTo>
                  <a:pt x="0" y="0"/>
                </a:lnTo>
                <a:close/>
              </a:path>
            </a:pathLst>
          </a:custGeom>
          <a:blipFill>
            <a:blip r:embed="rId4"/>
            <a:stretch>
              <a:fillRect t="-3146" r="-8062" b="-15021"/>
            </a:stretch>
          </a:blipFill>
        </p:spPr>
      </p:sp>
      <p:sp>
        <p:nvSpPr>
          <p:cNvPr id="13" name="Freeform 13"/>
          <p:cNvSpPr/>
          <p:nvPr/>
        </p:nvSpPr>
        <p:spPr>
          <a:xfrm>
            <a:off x="14516728" y="3719439"/>
            <a:ext cx="2296298" cy="2296298"/>
          </a:xfrm>
          <a:custGeom>
            <a:avLst/>
            <a:gdLst/>
            <a:ahLst/>
            <a:cxnLst/>
            <a:rect l="l" t="t" r="r" b="b"/>
            <a:pathLst>
              <a:path w="2296298" h="2296298">
                <a:moveTo>
                  <a:pt x="0" y="0"/>
                </a:moveTo>
                <a:lnTo>
                  <a:pt x="2296298" y="0"/>
                </a:lnTo>
                <a:lnTo>
                  <a:pt x="2296298" y="2296298"/>
                </a:lnTo>
                <a:lnTo>
                  <a:pt x="0" y="229629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3867112" y="1898421"/>
            <a:ext cx="4210088" cy="411075"/>
          </a:xfrm>
          <a:prstGeom prst="rect">
            <a:avLst/>
          </a:prstGeom>
        </p:spPr>
        <p:txBody>
          <a:bodyPr wrap="square" lIns="0" tIns="0" rIns="0" bIns="0" rtlCol="0" anchor="t">
            <a:spAutoFit/>
          </a:bodyPr>
          <a:lstStyle/>
          <a:p>
            <a:pPr algn="ctr">
              <a:lnSpc>
                <a:spcPts val="3455"/>
              </a:lnSpc>
              <a:spcBef>
                <a:spcPct val="0"/>
              </a:spcBef>
            </a:pPr>
            <a:r>
              <a:rPr lang="en-US" sz="2468" b="1" dirty="0">
                <a:solidFill>
                  <a:srgbClr val="FFFFFF"/>
                </a:solidFill>
                <a:latin typeface="Inter Bold"/>
                <a:ea typeface="Inter Bold"/>
                <a:cs typeface="Inter Bold"/>
                <a:sym typeface="Inter Bold"/>
              </a:rPr>
              <a:t>Attrition by Salary Slab</a:t>
            </a:r>
          </a:p>
        </p:txBody>
      </p:sp>
      <p:sp>
        <p:nvSpPr>
          <p:cNvPr id="15" name="TextBox 15"/>
          <p:cNvSpPr txBox="1"/>
          <p:nvPr/>
        </p:nvSpPr>
        <p:spPr>
          <a:xfrm>
            <a:off x="1292557" y="2716196"/>
            <a:ext cx="9985043" cy="1153795"/>
          </a:xfrm>
          <a:prstGeom prst="rect">
            <a:avLst/>
          </a:prstGeom>
        </p:spPr>
        <p:txBody>
          <a:bodyPr wrap="square" lIns="0" tIns="0" rIns="0" bIns="0" rtlCol="0" anchor="t">
            <a:spAutoFit/>
          </a:bodyPr>
          <a:lstStyle/>
          <a:p>
            <a:pPr algn="l">
              <a:lnSpc>
                <a:spcPts val="3079"/>
              </a:lnSpc>
              <a:spcBef>
                <a:spcPct val="0"/>
              </a:spcBef>
            </a:pPr>
            <a:r>
              <a:rPr lang="en-US" sz="2199" b="1" dirty="0">
                <a:solidFill>
                  <a:srgbClr val="FFFFFF"/>
                </a:solidFill>
                <a:latin typeface="Inter Bold"/>
                <a:ea typeface="Inter Bold"/>
                <a:cs typeface="Inter Bold"/>
                <a:sym typeface="Inter Bold"/>
              </a:rPr>
              <a:t>Attrition is heavily concentrated in the lowest salary bracket  (</a:t>
            </a:r>
            <a:r>
              <a:rPr lang="en-US" sz="2199" b="1" dirty="0" err="1">
                <a:solidFill>
                  <a:srgbClr val="FFFFFF"/>
                </a:solidFill>
                <a:latin typeface="Inter Bold"/>
                <a:ea typeface="Inter Bold"/>
                <a:cs typeface="Inter Bold"/>
                <a:sym typeface="Inter Bold"/>
              </a:rPr>
              <a:t>Upto</a:t>
            </a:r>
            <a:r>
              <a:rPr lang="en-US" sz="2199" b="1" dirty="0">
                <a:solidFill>
                  <a:srgbClr val="FFFFFF"/>
                </a:solidFill>
                <a:latin typeface="Inter Bold"/>
                <a:ea typeface="Inter Bold"/>
                <a:cs typeface="Inter Bold"/>
                <a:sym typeface="Inter Bold"/>
              </a:rPr>
              <a:t> 5K), with numbers dropping sharply as salary increases — suggesting compensation is a major driver of exits.</a:t>
            </a:r>
          </a:p>
        </p:txBody>
      </p:sp>
      <p:sp>
        <p:nvSpPr>
          <p:cNvPr id="16" name="Freeform 16"/>
          <p:cNvSpPr/>
          <p:nvPr/>
        </p:nvSpPr>
        <p:spPr>
          <a:xfrm>
            <a:off x="478629" y="305729"/>
            <a:ext cx="1218376" cy="1218376"/>
          </a:xfrm>
          <a:custGeom>
            <a:avLst/>
            <a:gdLst/>
            <a:ahLst/>
            <a:cxnLst/>
            <a:rect l="l" t="t" r="r" b="b"/>
            <a:pathLst>
              <a:path w="1218376" h="1218376">
                <a:moveTo>
                  <a:pt x="0" y="0"/>
                </a:moveTo>
                <a:lnTo>
                  <a:pt x="1218376" y="0"/>
                </a:lnTo>
                <a:lnTo>
                  <a:pt x="1218376" y="1218377"/>
                </a:lnTo>
                <a:lnTo>
                  <a:pt x="0" y="1218377"/>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sp>
        <p:nvSpPr>
          <p:cNvPr id="2" name="Freeform 2"/>
          <p:cNvSpPr/>
          <p:nvPr/>
        </p:nvSpPr>
        <p:spPr>
          <a:xfrm>
            <a:off x="8542933"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744067"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563092" y="1771756"/>
            <a:ext cx="12466770" cy="6743489"/>
            <a:chOff x="0" y="0"/>
            <a:chExt cx="3283429" cy="1776063"/>
          </a:xfrm>
        </p:grpSpPr>
        <p:sp>
          <p:nvSpPr>
            <p:cNvPr id="5" name="Freeform 5"/>
            <p:cNvSpPr/>
            <p:nvPr/>
          </p:nvSpPr>
          <p:spPr>
            <a:xfrm>
              <a:off x="0" y="0"/>
              <a:ext cx="3283429" cy="1776063"/>
            </a:xfrm>
            <a:custGeom>
              <a:avLst/>
              <a:gdLst/>
              <a:ahLst/>
              <a:cxnLst/>
              <a:rect l="l" t="t" r="r" b="b"/>
              <a:pathLst>
                <a:path w="3283429" h="1776063">
                  <a:moveTo>
                    <a:pt x="62100" y="0"/>
                  </a:moveTo>
                  <a:lnTo>
                    <a:pt x="3221329" y="0"/>
                  </a:lnTo>
                  <a:cubicBezTo>
                    <a:pt x="3255626" y="0"/>
                    <a:pt x="3283429" y="27803"/>
                    <a:pt x="3283429" y="62100"/>
                  </a:cubicBezTo>
                  <a:lnTo>
                    <a:pt x="3283429" y="1713962"/>
                  </a:lnTo>
                  <a:cubicBezTo>
                    <a:pt x="3283429" y="1748260"/>
                    <a:pt x="3255626" y="1776063"/>
                    <a:pt x="3221329" y="1776063"/>
                  </a:cubicBezTo>
                  <a:lnTo>
                    <a:pt x="62100" y="1776063"/>
                  </a:lnTo>
                  <a:cubicBezTo>
                    <a:pt x="27803" y="1776063"/>
                    <a:pt x="0" y="1748260"/>
                    <a:pt x="0" y="1713962"/>
                  </a:cubicBezTo>
                  <a:lnTo>
                    <a:pt x="0" y="62100"/>
                  </a:lnTo>
                  <a:cubicBezTo>
                    <a:pt x="0" y="27803"/>
                    <a:pt x="27803" y="0"/>
                    <a:pt x="62100" y="0"/>
                  </a:cubicBezTo>
                  <a:close/>
                </a:path>
              </a:pathLst>
            </a:custGeom>
            <a:solidFill>
              <a:srgbClr val="F26B0F"/>
            </a:solidFill>
          </p:spPr>
        </p:sp>
        <p:sp>
          <p:nvSpPr>
            <p:cNvPr id="6" name="TextBox 6"/>
            <p:cNvSpPr txBox="1"/>
            <p:nvPr/>
          </p:nvSpPr>
          <p:spPr>
            <a:xfrm>
              <a:off x="0" y="-38100"/>
              <a:ext cx="3283429" cy="1814163"/>
            </a:xfrm>
            <a:prstGeom prst="rect">
              <a:avLst/>
            </a:prstGeom>
          </p:spPr>
          <p:txBody>
            <a:bodyPr lIns="50800" tIns="50800" rIns="50800" bIns="50800" rtlCol="0" anchor="ctr"/>
            <a:lstStyle/>
            <a:p>
              <a:pPr marL="0" lvl="0" indent="0" algn="ctr">
                <a:lnSpc>
                  <a:spcPts val="2659"/>
                </a:lnSpc>
              </a:pPr>
              <a:endParaRPr/>
            </a:p>
          </p:txBody>
        </p:sp>
      </p:grpSp>
      <p:grpSp>
        <p:nvGrpSpPr>
          <p:cNvPr id="7" name="Group 7"/>
          <p:cNvGrpSpPr/>
          <p:nvPr/>
        </p:nvGrpSpPr>
        <p:grpSpPr>
          <a:xfrm>
            <a:off x="-3056535" y="9357823"/>
            <a:ext cx="24066013" cy="1382536"/>
            <a:chOff x="0" y="0"/>
            <a:chExt cx="6338374" cy="364125"/>
          </a:xfrm>
        </p:grpSpPr>
        <p:sp>
          <p:nvSpPr>
            <p:cNvPr id="8" name="Freeform 8"/>
            <p:cNvSpPr/>
            <p:nvPr/>
          </p:nvSpPr>
          <p:spPr>
            <a:xfrm>
              <a:off x="0" y="0"/>
              <a:ext cx="6338374" cy="364125"/>
            </a:xfrm>
            <a:custGeom>
              <a:avLst/>
              <a:gdLst/>
              <a:ahLst/>
              <a:cxnLst/>
              <a:rect l="l" t="t" r="r" b="b"/>
              <a:pathLst>
                <a:path w="6338374" h="364125">
                  <a:moveTo>
                    <a:pt x="3169187" y="0"/>
                  </a:moveTo>
                  <a:cubicBezTo>
                    <a:pt x="1418893" y="0"/>
                    <a:pt x="0" y="81512"/>
                    <a:pt x="0" y="182062"/>
                  </a:cubicBezTo>
                  <a:cubicBezTo>
                    <a:pt x="0" y="282613"/>
                    <a:pt x="1418893" y="364125"/>
                    <a:pt x="3169187" y="364125"/>
                  </a:cubicBezTo>
                  <a:cubicBezTo>
                    <a:pt x="4919480" y="364125"/>
                    <a:pt x="6338374" y="282613"/>
                    <a:pt x="6338374" y="182062"/>
                  </a:cubicBezTo>
                  <a:cubicBezTo>
                    <a:pt x="6338374" y="81512"/>
                    <a:pt x="4919480" y="0"/>
                    <a:pt x="3169187" y="0"/>
                  </a:cubicBezTo>
                  <a:close/>
                </a:path>
              </a:pathLst>
            </a:custGeom>
            <a:solidFill>
              <a:srgbClr val="FFDE59"/>
            </a:solidFill>
          </p:spPr>
        </p:sp>
        <p:sp>
          <p:nvSpPr>
            <p:cNvPr id="9" name="TextBox 9"/>
            <p:cNvSpPr txBox="1"/>
            <p:nvPr/>
          </p:nvSpPr>
          <p:spPr>
            <a:xfrm>
              <a:off x="594223" y="-3963"/>
              <a:ext cx="5149929" cy="333951"/>
            </a:xfrm>
            <a:prstGeom prst="rect">
              <a:avLst/>
            </a:prstGeom>
          </p:spPr>
          <p:txBody>
            <a:bodyPr lIns="50800" tIns="50800" rIns="50800" bIns="50800" rtlCol="0" anchor="ctr"/>
            <a:lstStyle/>
            <a:p>
              <a:pPr marL="0" lvl="0" indent="0" algn="ctr">
                <a:lnSpc>
                  <a:spcPts val="2659"/>
                </a:lnSpc>
              </a:pPr>
              <a:endParaRPr/>
            </a:p>
          </p:txBody>
        </p:sp>
      </p:grpSp>
      <p:sp>
        <p:nvSpPr>
          <p:cNvPr id="10" name="Freeform 10"/>
          <p:cNvSpPr/>
          <p:nvPr/>
        </p:nvSpPr>
        <p:spPr>
          <a:xfrm rot="-4692927">
            <a:off x="15942077" y="6983234"/>
            <a:ext cx="1516023" cy="2173509"/>
          </a:xfrm>
          <a:custGeom>
            <a:avLst/>
            <a:gdLst/>
            <a:ahLst/>
            <a:cxnLst/>
            <a:rect l="l" t="t" r="r" b="b"/>
            <a:pathLst>
              <a:path w="1516023" h="2173509">
                <a:moveTo>
                  <a:pt x="0" y="0"/>
                </a:moveTo>
                <a:lnTo>
                  <a:pt x="1516022" y="0"/>
                </a:lnTo>
                <a:lnTo>
                  <a:pt x="1516022" y="2173509"/>
                </a:lnTo>
                <a:lnTo>
                  <a:pt x="0" y="21735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rot="4946724">
            <a:off x="13895430" y="137950"/>
            <a:ext cx="1242597" cy="1781501"/>
          </a:xfrm>
          <a:custGeom>
            <a:avLst/>
            <a:gdLst/>
            <a:ahLst/>
            <a:cxnLst/>
            <a:rect l="l" t="t" r="r" b="b"/>
            <a:pathLst>
              <a:path w="1242597" h="1781501">
                <a:moveTo>
                  <a:pt x="0" y="0"/>
                </a:moveTo>
                <a:lnTo>
                  <a:pt x="1242596" y="0"/>
                </a:lnTo>
                <a:lnTo>
                  <a:pt x="1242596" y="1781500"/>
                </a:lnTo>
                <a:lnTo>
                  <a:pt x="0" y="17815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a:off x="14516728" y="3775018"/>
            <a:ext cx="2384010" cy="2264810"/>
          </a:xfrm>
          <a:custGeom>
            <a:avLst/>
            <a:gdLst/>
            <a:ahLst/>
            <a:cxnLst/>
            <a:rect l="l" t="t" r="r" b="b"/>
            <a:pathLst>
              <a:path w="2384010" h="2264810">
                <a:moveTo>
                  <a:pt x="0" y="0"/>
                </a:moveTo>
                <a:lnTo>
                  <a:pt x="2384010" y="0"/>
                </a:lnTo>
                <a:lnTo>
                  <a:pt x="2384010" y="2264810"/>
                </a:lnTo>
                <a:lnTo>
                  <a:pt x="0" y="226481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a:off x="563092" y="452591"/>
            <a:ext cx="1152219" cy="1152219"/>
          </a:xfrm>
          <a:custGeom>
            <a:avLst/>
            <a:gdLst/>
            <a:ahLst/>
            <a:cxnLst/>
            <a:rect l="l" t="t" r="r" b="b"/>
            <a:pathLst>
              <a:path w="1152219" h="1152219">
                <a:moveTo>
                  <a:pt x="0" y="0"/>
                </a:moveTo>
                <a:lnTo>
                  <a:pt x="1152219" y="0"/>
                </a:lnTo>
                <a:lnTo>
                  <a:pt x="1152219" y="1152218"/>
                </a:lnTo>
                <a:lnTo>
                  <a:pt x="0" y="115221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Freeform 14"/>
          <p:cNvSpPr/>
          <p:nvPr/>
        </p:nvSpPr>
        <p:spPr>
          <a:xfrm>
            <a:off x="3399433" y="4433859"/>
            <a:ext cx="6103375" cy="3814470"/>
          </a:xfrm>
          <a:custGeom>
            <a:avLst/>
            <a:gdLst/>
            <a:ahLst/>
            <a:cxnLst/>
            <a:rect l="l" t="t" r="r" b="b"/>
            <a:pathLst>
              <a:path w="6103375" h="3814470">
                <a:moveTo>
                  <a:pt x="0" y="0"/>
                </a:moveTo>
                <a:lnTo>
                  <a:pt x="6103375" y="0"/>
                </a:lnTo>
                <a:lnTo>
                  <a:pt x="6103375" y="3814470"/>
                </a:lnTo>
                <a:lnTo>
                  <a:pt x="0" y="3814470"/>
                </a:lnTo>
                <a:lnTo>
                  <a:pt x="0" y="0"/>
                </a:lnTo>
                <a:close/>
              </a:path>
            </a:pathLst>
          </a:custGeom>
          <a:blipFill>
            <a:blip r:embed="rId6"/>
            <a:stretch>
              <a:fillRect b="-2903"/>
            </a:stretch>
          </a:blipFill>
        </p:spPr>
      </p:sp>
      <p:sp>
        <p:nvSpPr>
          <p:cNvPr id="15" name="TextBox 15"/>
          <p:cNvSpPr txBox="1"/>
          <p:nvPr/>
        </p:nvSpPr>
        <p:spPr>
          <a:xfrm>
            <a:off x="4530208" y="2038671"/>
            <a:ext cx="3775592" cy="411266"/>
          </a:xfrm>
          <a:prstGeom prst="rect">
            <a:avLst/>
          </a:prstGeom>
        </p:spPr>
        <p:txBody>
          <a:bodyPr wrap="square" lIns="0" tIns="0" rIns="0" bIns="0" rtlCol="0" anchor="t">
            <a:spAutoFit/>
          </a:bodyPr>
          <a:lstStyle/>
          <a:p>
            <a:pPr algn="ctr">
              <a:lnSpc>
                <a:spcPts val="3464"/>
              </a:lnSpc>
              <a:spcBef>
                <a:spcPct val="0"/>
              </a:spcBef>
            </a:pPr>
            <a:r>
              <a:rPr lang="en-US" sz="2474" b="1" dirty="0">
                <a:solidFill>
                  <a:srgbClr val="FFFFFF"/>
                </a:solidFill>
                <a:latin typeface="Inter Bold"/>
                <a:ea typeface="Inter Bold"/>
                <a:cs typeface="Inter Bold"/>
                <a:sym typeface="Inter Bold"/>
              </a:rPr>
              <a:t>Attrition by Job Role</a:t>
            </a:r>
          </a:p>
        </p:txBody>
      </p:sp>
      <p:sp>
        <p:nvSpPr>
          <p:cNvPr id="16" name="TextBox 16"/>
          <p:cNvSpPr txBox="1"/>
          <p:nvPr/>
        </p:nvSpPr>
        <p:spPr>
          <a:xfrm>
            <a:off x="1066800" y="3029430"/>
            <a:ext cx="9560527" cy="1153795"/>
          </a:xfrm>
          <a:prstGeom prst="rect">
            <a:avLst/>
          </a:prstGeom>
        </p:spPr>
        <p:txBody>
          <a:bodyPr lIns="0" tIns="0" rIns="0" bIns="0" rtlCol="0" anchor="t">
            <a:spAutoFit/>
          </a:bodyPr>
          <a:lstStyle/>
          <a:p>
            <a:pPr algn="l">
              <a:lnSpc>
                <a:spcPts val="3079"/>
              </a:lnSpc>
              <a:spcBef>
                <a:spcPct val="0"/>
              </a:spcBef>
            </a:pPr>
            <a:r>
              <a:rPr lang="en-US" sz="2199" b="1" dirty="0">
                <a:solidFill>
                  <a:srgbClr val="FFFFFF"/>
                </a:solidFill>
                <a:latin typeface="Inter Bold"/>
                <a:ea typeface="Inter Bold"/>
                <a:cs typeface="Inter Bold"/>
                <a:sym typeface="Inter Bold"/>
              </a:rPr>
              <a:t>Laboratory Technician (62) and Sales Executive (57) have the highest attrition counts, together accounting for nearly half of all exits across the top five roles shown.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grpSp>
        <p:nvGrpSpPr>
          <p:cNvPr id="2" name="Group 2"/>
          <p:cNvGrpSpPr/>
          <p:nvPr/>
        </p:nvGrpSpPr>
        <p:grpSpPr>
          <a:xfrm>
            <a:off x="-1134441" y="0"/>
            <a:ext cx="20556882" cy="10287000"/>
            <a:chOff x="0" y="0"/>
            <a:chExt cx="27409176"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3693176"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a:off x="-2889006" y="9477375"/>
            <a:ext cx="24066013" cy="1411111"/>
            <a:chOff x="0" y="0"/>
            <a:chExt cx="6338374" cy="371651"/>
          </a:xfrm>
        </p:grpSpPr>
        <p:sp>
          <p:nvSpPr>
            <p:cNvPr id="6" name="Freeform 6"/>
            <p:cNvSpPr/>
            <p:nvPr/>
          </p:nvSpPr>
          <p:spPr>
            <a:xfrm>
              <a:off x="0" y="0"/>
              <a:ext cx="6338374" cy="371651"/>
            </a:xfrm>
            <a:custGeom>
              <a:avLst/>
              <a:gdLst/>
              <a:ahLst/>
              <a:cxnLst/>
              <a:rect l="l" t="t" r="r" b="b"/>
              <a:pathLst>
                <a:path w="6338374" h="371651">
                  <a:moveTo>
                    <a:pt x="3169187" y="0"/>
                  </a:moveTo>
                  <a:cubicBezTo>
                    <a:pt x="1418893" y="0"/>
                    <a:pt x="0" y="83197"/>
                    <a:pt x="0" y="185825"/>
                  </a:cubicBezTo>
                  <a:cubicBezTo>
                    <a:pt x="0" y="288454"/>
                    <a:pt x="1418893" y="371651"/>
                    <a:pt x="3169187" y="371651"/>
                  </a:cubicBezTo>
                  <a:cubicBezTo>
                    <a:pt x="4919480" y="371651"/>
                    <a:pt x="6338374" y="288454"/>
                    <a:pt x="6338374" y="185825"/>
                  </a:cubicBezTo>
                  <a:cubicBezTo>
                    <a:pt x="6338374" y="83197"/>
                    <a:pt x="4919480" y="0"/>
                    <a:pt x="3169187" y="0"/>
                  </a:cubicBezTo>
                  <a:close/>
                </a:path>
              </a:pathLst>
            </a:custGeom>
            <a:solidFill>
              <a:srgbClr val="FFDE59"/>
            </a:solidFill>
          </p:spPr>
        </p:sp>
        <p:sp>
          <p:nvSpPr>
            <p:cNvPr id="7" name="TextBox 7"/>
            <p:cNvSpPr txBox="1"/>
            <p:nvPr/>
          </p:nvSpPr>
          <p:spPr>
            <a:xfrm>
              <a:off x="594223" y="-3258"/>
              <a:ext cx="5149929" cy="340066"/>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831565" y="595198"/>
            <a:ext cx="256374" cy="25637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rot="4946724">
            <a:off x="13683863" y="425468"/>
            <a:ext cx="1337070" cy="1916946"/>
          </a:xfrm>
          <a:custGeom>
            <a:avLst/>
            <a:gdLst/>
            <a:ahLst/>
            <a:cxnLst/>
            <a:rect l="l" t="t" r="r" b="b"/>
            <a:pathLst>
              <a:path w="1337070" h="1916946">
                <a:moveTo>
                  <a:pt x="0" y="0"/>
                </a:moveTo>
                <a:lnTo>
                  <a:pt x="1337070" y="0"/>
                </a:lnTo>
                <a:lnTo>
                  <a:pt x="1337070" y="1916946"/>
                </a:lnTo>
                <a:lnTo>
                  <a:pt x="0" y="191694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Freeform 12"/>
          <p:cNvSpPr/>
          <p:nvPr/>
        </p:nvSpPr>
        <p:spPr>
          <a:xfrm>
            <a:off x="16449858" y="266883"/>
            <a:ext cx="2260780" cy="2306607"/>
          </a:xfrm>
          <a:custGeom>
            <a:avLst/>
            <a:gdLst/>
            <a:ahLst/>
            <a:cxnLst/>
            <a:rect l="l" t="t" r="r" b="b"/>
            <a:pathLst>
              <a:path w="2260780" h="2306607">
                <a:moveTo>
                  <a:pt x="0" y="0"/>
                </a:moveTo>
                <a:lnTo>
                  <a:pt x="2260779" y="0"/>
                </a:lnTo>
                <a:lnTo>
                  <a:pt x="2260779" y="2306606"/>
                </a:lnTo>
                <a:lnTo>
                  <a:pt x="0" y="2306606"/>
                </a:lnTo>
                <a:lnTo>
                  <a:pt x="0" y="0"/>
                </a:lnTo>
                <a:close/>
              </a:path>
            </a:pathLst>
          </a:custGeom>
          <a:blipFill>
            <a:blip r:embed="rId4"/>
            <a:stretch>
              <a:fillRect/>
            </a:stretch>
          </a:blipFill>
        </p:spPr>
      </p:sp>
      <p:sp>
        <p:nvSpPr>
          <p:cNvPr id="13" name="Freeform 13"/>
          <p:cNvSpPr/>
          <p:nvPr/>
        </p:nvSpPr>
        <p:spPr>
          <a:xfrm>
            <a:off x="2667000" y="2573490"/>
            <a:ext cx="12954000" cy="6870904"/>
          </a:xfrm>
          <a:custGeom>
            <a:avLst/>
            <a:gdLst/>
            <a:ahLst/>
            <a:cxnLst/>
            <a:rect l="l" t="t" r="r" b="b"/>
            <a:pathLst>
              <a:path w="11809710" h="6698458">
                <a:moveTo>
                  <a:pt x="0" y="0"/>
                </a:moveTo>
                <a:lnTo>
                  <a:pt x="11809710" y="0"/>
                </a:lnTo>
                <a:lnTo>
                  <a:pt x="11809710" y="6698458"/>
                </a:lnTo>
                <a:lnTo>
                  <a:pt x="0" y="6698458"/>
                </a:lnTo>
                <a:lnTo>
                  <a:pt x="0" y="0"/>
                </a:lnTo>
                <a:close/>
              </a:path>
            </a:pathLst>
          </a:custGeom>
          <a:blipFill>
            <a:blip r:embed="rId5"/>
            <a:stretch>
              <a:fillRect l="-779" t="-1652" r="-348" b="-1410"/>
            </a:stretch>
          </a:blipFill>
        </p:spPr>
      </p:sp>
      <p:sp>
        <p:nvSpPr>
          <p:cNvPr id="14" name="TextBox 14"/>
          <p:cNvSpPr txBox="1"/>
          <p:nvPr/>
        </p:nvSpPr>
        <p:spPr>
          <a:xfrm>
            <a:off x="1651064" y="398003"/>
            <a:ext cx="14985872" cy="647551"/>
          </a:xfrm>
          <a:prstGeom prst="rect">
            <a:avLst/>
          </a:prstGeom>
        </p:spPr>
        <p:txBody>
          <a:bodyPr lIns="0" tIns="0" rIns="0" bIns="0" rtlCol="0" anchor="t">
            <a:spAutoFit/>
          </a:bodyPr>
          <a:lstStyle/>
          <a:p>
            <a:pPr marL="0" lvl="0" indent="0" algn="l">
              <a:lnSpc>
                <a:spcPts val="4795"/>
              </a:lnSpc>
            </a:pPr>
            <a:r>
              <a:rPr lang="en-US" sz="4995">
                <a:solidFill>
                  <a:srgbClr val="FFFFFF"/>
                </a:solidFill>
                <a:latin typeface="Lilita One"/>
                <a:ea typeface="Lilita One"/>
                <a:cs typeface="Lilita One"/>
                <a:sym typeface="Lilita One"/>
              </a:rPr>
              <a:t>DASHBOARD OVERVIEW</a:t>
            </a:r>
          </a:p>
        </p:txBody>
      </p:sp>
      <p:sp>
        <p:nvSpPr>
          <p:cNvPr id="15" name="TextBox 15"/>
          <p:cNvSpPr txBox="1"/>
          <p:nvPr/>
        </p:nvSpPr>
        <p:spPr>
          <a:xfrm>
            <a:off x="1651064" y="1189360"/>
            <a:ext cx="12445936" cy="1153795"/>
          </a:xfrm>
          <a:prstGeom prst="rect">
            <a:avLst/>
          </a:prstGeom>
        </p:spPr>
        <p:txBody>
          <a:bodyPr wrap="square" lIns="0" tIns="0" rIns="0" bIns="0" rtlCol="0" anchor="t">
            <a:spAutoFit/>
          </a:bodyPr>
          <a:lstStyle/>
          <a:p>
            <a:pPr algn="l">
              <a:lnSpc>
                <a:spcPts val="3079"/>
              </a:lnSpc>
            </a:pPr>
            <a:r>
              <a:rPr lang="en-US" sz="2199" b="1" dirty="0">
                <a:solidFill>
                  <a:srgbClr val="FFFFFF"/>
                </a:solidFill>
                <a:latin typeface="Inter Bold"/>
                <a:ea typeface="Inter Bold"/>
                <a:cs typeface="Inter Bold"/>
                <a:sym typeface="Inter Bold"/>
              </a:rPr>
              <a:t>This dashboard shows employee attrition trends across our organization.</a:t>
            </a:r>
          </a:p>
          <a:p>
            <a:pPr algn="l">
              <a:lnSpc>
                <a:spcPts val="3079"/>
              </a:lnSpc>
            </a:pPr>
            <a:r>
              <a:rPr lang="en-US" sz="2199" b="1" dirty="0">
                <a:solidFill>
                  <a:srgbClr val="FFFFFF"/>
                </a:solidFill>
                <a:latin typeface="Inter Bold"/>
                <a:ea typeface="Inter Bold"/>
                <a:cs typeface="Inter Bold"/>
                <a:sym typeface="Inter Bold"/>
              </a:rPr>
              <a:t> It highlights key patterns in age, salary, job roles, and tenure. </a:t>
            </a:r>
          </a:p>
          <a:p>
            <a:pPr algn="l">
              <a:lnSpc>
                <a:spcPts val="3079"/>
              </a:lnSpc>
              <a:spcBef>
                <a:spcPct val="0"/>
              </a:spcBef>
            </a:pPr>
            <a:r>
              <a:rPr lang="en-US" sz="2199" b="1" dirty="0">
                <a:solidFill>
                  <a:srgbClr val="FFFFFF"/>
                </a:solidFill>
                <a:latin typeface="Inter Bold"/>
                <a:ea typeface="Inter Bold"/>
                <a:cs typeface="Inter Bold"/>
                <a:sym typeface="Inter Bold"/>
              </a:rPr>
              <a:t>These insights help us understand why employees leave and where to improve retention.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grpSp>
        <p:nvGrpSpPr>
          <p:cNvPr id="2" name="Group 2"/>
          <p:cNvGrpSpPr/>
          <p:nvPr/>
        </p:nvGrpSpPr>
        <p:grpSpPr>
          <a:xfrm>
            <a:off x="-1134441" y="0"/>
            <a:ext cx="20556882" cy="10287000"/>
            <a:chOff x="0" y="0"/>
            <a:chExt cx="27409176"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3693176"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a:off x="3871450" y="1959228"/>
            <a:ext cx="10686507" cy="1419844"/>
            <a:chOff x="0" y="0"/>
            <a:chExt cx="2814553" cy="373951"/>
          </a:xfrm>
        </p:grpSpPr>
        <p:sp>
          <p:nvSpPr>
            <p:cNvPr id="6" name="Freeform 6"/>
            <p:cNvSpPr/>
            <p:nvPr/>
          </p:nvSpPr>
          <p:spPr>
            <a:xfrm>
              <a:off x="0" y="0"/>
              <a:ext cx="2814553" cy="373951"/>
            </a:xfrm>
            <a:custGeom>
              <a:avLst/>
              <a:gdLst/>
              <a:ahLst/>
              <a:cxnLst/>
              <a:rect l="l" t="t" r="r" b="b"/>
              <a:pathLst>
                <a:path w="2814553" h="373951">
                  <a:moveTo>
                    <a:pt x="20285" y="0"/>
                  </a:moveTo>
                  <a:lnTo>
                    <a:pt x="2794268" y="0"/>
                  </a:lnTo>
                  <a:cubicBezTo>
                    <a:pt x="2805471" y="0"/>
                    <a:pt x="2814553" y="9082"/>
                    <a:pt x="2814553" y="20285"/>
                  </a:cubicBezTo>
                  <a:lnTo>
                    <a:pt x="2814553" y="353666"/>
                  </a:lnTo>
                  <a:cubicBezTo>
                    <a:pt x="2814553" y="364869"/>
                    <a:pt x="2805471" y="373951"/>
                    <a:pt x="2794268" y="373951"/>
                  </a:cubicBezTo>
                  <a:lnTo>
                    <a:pt x="20285" y="373951"/>
                  </a:lnTo>
                  <a:cubicBezTo>
                    <a:pt x="9082" y="373951"/>
                    <a:pt x="0" y="364869"/>
                    <a:pt x="0" y="353666"/>
                  </a:cubicBezTo>
                  <a:lnTo>
                    <a:pt x="0" y="20285"/>
                  </a:lnTo>
                  <a:cubicBezTo>
                    <a:pt x="0" y="9082"/>
                    <a:pt x="9082" y="0"/>
                    <a:pt x="20285" y="0"/>
                  </a:cubicBezTo>
                  <a:close/>
                </a:path>
              </a:pathLst>
            </a:custGeom>
            <a:solidFill>
              <a:srgbClr val="F26B0F"/>
            </a:solidFill>
          </p:spPr>
        </p:sp>
        <p:sp>
          <p:nvSpPr>
            <p:cNvPr id="7" name="TextBox 7"/>
            <p:cNvSpPr txBox="1"/>
            <p:nvPr/>
          </p:nvSpPr>
          <p:spPr>
            <a:xfrm>
              <a:off x="0" y="-38100"/>
              <a:ext cx="2814553" cy="412051"/>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2889006" y="9701810"/>
            <a:ext cx="24066013" cy="1186676"/>
            <a:chOff x="0" y="0"/>
            <a:chExt cx="6338374" cy="312540"/>
          </a:xfrm>
        </p:grpSpPr>
        <p:sp>
          <p:nvSpPr>
            <p:cNvPr id="9" name="Freeform 9"/>
            <p:cNvSpPr/>
            <p:nvPr/>
          </p:nvSpPr>
          <p:spPr>
            <a:xfrm>
              <a:off x="0" y="0"/>
              <a:ext cx="6338374" cy="312540"/>
            </a:xfrm>
            <a:custGeom>
              <a:avLst/>
              <a:gdLst/>
              <a:ahLst/>
              <a:cxnLst/>
              <a:rect l="l" t="t" r="r" b="b"/>
              <a:pathLst>
                <a:path w="6338374" h="312540">
                  <a:moveTo>
                    <a:pt x="3169187" y="0"/>
                  </a:moveTo>
                  <a:cubicBezTo>
                    <a:pt x="1418893" y="0"/>
                    <a:pt x="0" y="69964"/>
                    <a:pt x="0" y="156270"/>
                  </a:cubicBezTo>
                  <a:cubicBezTo>
                    <a:pt x="0" y="242576"/>
                    <a:pt x="1418893" y="312540"/>
                    <a:pt x="3169187" y="312540"/>
                  </a:cubicBezTo>
                  <a:cubicBezTo>
                    <a:pt x="4919480" y="312540"/>
                    <a:pt x="6338374" y="242576"/>
                    <a:pt x="6338374" y="156270"/>
                  </a:cubicBezTo>
                  <a:cubicBezTo>
                    <a:pt x="6338374" y="69964"/>
                    <a:pt x="4919480" y="0"/>
                    <a:pt x="3169187" y="0"/>
                  </a:cubicBezTo>
                  <a:close/>
                </a:path>
              </a:pathLst>
            </a:custGeom>
            <a:solidFill>
              <a:srgbClr val="FFDE59"/>
            </a:solidFill>
          </p:spPr>
        </p:sp>
        <p:sp>
          <p:nvSpPr>
            <p:cNvPr id="10" name="TextBox 10"/>
            <p:cNvSpPr txBox="1"/>
            <p:nvPr/>
          </p:nvSpPr>
          <p:spPr>
            <a:xfrm>
              <a:off x="594223" y="-8799"/>
              <a:ext cx="5149929" cy="292039"/>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3510401" y="964192"/>
            <a:ext cx="361049" cy="36104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4" name="Freeform 14"/>
          <p:cNvSpPr/>
          <p:nvPr/>
        </p:nvSpPr>
        <p:spPr>
          <a:xfrm rot="-8624752">
            <a:off x="785499" y="3828383"/>
            <a:ext cx="1085674" cy="1556523"/>
          </a:xfrm>
          <a:custGeom>
            <a:avLst/>
            <a:gdLst/>
            <a:ahLst/>
            <a:cxnLst/>
            <a:rect l="l" t="t" r="r" b="b"/>
            <a:pathLst>
              <a:path w="1085674" h="1556523">
                <a:moveTo>
                  <a:pt x="0" y="0"/>
                </a:moveTo>
                <a:lnTo>
                  <a:pt x="1085675" y="0"/>
                </a:lnTo>
                <a:lnTo>
                  <a:pt x="1085675" y="1556523"/>
                </a:lnTo>
                <a:lnTo>
                  <a:pt x="0" y="155652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5" name="Freeform 15"/>
          <p:cNvSpPr/>
          <p:nvPr/>
        </p:nvSpPr>
        <p:spPr>
          <a:xfrm rot="3736269">
            <a:off x="16350030" y="8147038"/>
            <a:ext cx="856381" cy="1227787"/>
          </a:xfrm>
          <a:custGeom>
            <a:avLst/>
            <a:gdLst/>
            <a:ahLst/>
            <a:cxnLst/>
            <a:rect l="l" t="t" r="r" b="b"/>
            <a:pathLst>
              <a:path w="856381" h="1227787">
                <a:moveTo>
                  <a:pt x="0" y="0"/>
                </a:moveTo>
                <a:lnTo>
                  <a:pt x="856381" y="0"/>
                </a:lnTo>
                <a:lnTo>
                  <a:pt x="856381" y="1227786"/>
                </a:lnTo>
                <a:lnTo>
                  <a:pt x="0" y="122778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Freeform 16"/>
          <p:cNvSpPr/>
          <p:nvPr/>
        </p:nvSpPr>
        <p:spPr>
          <a:xfrm>
            <a:off x="-568362" y="869615"/>
            <a:ext cx="2956182" cy="2253254"/>
          </a:xfrm>
          <a:custGeom>
            <a:avLst/>
            <a:gdLst/>
            <a:ahLst/>
            <a:cxnLst/>
            <a:rect l="l" t="t" r="r" b="b"/>
            <a:pathLst>
              <a:path w="2956182" h="2253254">
                <a:moveTo>
                  <a:pt x="0" y="0"/>
                </a:moveTo>
                <a:lnTo>
                  <a:pt x="2956182" y="0"/>
                </a:lnTo>
                <a:lnTo>
                  <a:pt x="2956182" y="2253253"/>
                </a:lnTo>
                <a:lnTo>
                  <a:pt x="0" y="22532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Freeform 17"/>
          <p:cNvSpPr/>
          <p:nvPr/>
        </p:nvSpPr>
        <p:spPr>
          <a:xfrm rot="7612064">
            <a:off x="17420867" y="2450918"/>
            <a:ext cx="1085674" cy="1556523"/>
          </a:xfrm>
          <a:custGeom>
            <a:avLst/>
            <a:gdLst/>
            <a:ahLst/>
            <a:cxnLst/>
            <a:rect l="l" t="t" r="r" b="b"/>
            <a:pathLst>
              <a:path w="1085674" h="1556523">
                <a:moveTo>
                  <a:pt x="0" y="0"/>
                </a:moveTo>
                <a:lnTo>
                  <a:pt x="1085675" y="0"/>
                </a:lnTo>
                <a:lnTo>
                  <a:pt x="1085675" y="1556522"/>
                </a:lnTo>
                <a:lnTo>
                  <a:pt x="0" y="155652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4309627" y="927666"/>
            <a:ext cx="9350519" cy="660087"/>
          </a:xfrm>
          <a:prstGeom prst="rect">
            <a:avLst/>
          </a:prstGeom>
        </p:spPr>
        <p:txBody>
          <a:bodyPr lIns="0" tIns="0" rIns="0" bIns="0" rtlCol="0" anchor="t">
            <a:spAutoFit/>
          </a:bodyPr>
          <a:lstStyle/>
          <a:p>
            <a:pPr marL="0" lvl="0" indent="0" algn="l">
              <a:lnSpc>
                <a:spcPts val="4890"/>
              </a:lnSpc>
            </a:pPr>
            <a:r>
              <a:rPr lang="en-US" sz="5093">
                <a:solidFill>
                  <a:srgbClr val="FFFFFF"/>
                </a:solidFill>
                <a:latin typeface="Lilita One"/>
                <a:ea typeface="Lilita One"/>
                <a:cs typeface="Lilita One"/>
                <a:sym typeface="Lilita One"/>
              </a:rPr>
              <a:t>KEY INSIGHTS</a:t>
            </a:r>
          </a:p>
        </p:txBody>
      </p:sp>
      <p:sp>
        <p:nvSpPr>
          <p:cNvPr id="19" name="TextBox 19"/>
          <p:cNvSpPr txBox="1"/>
          <p:nvPr/>
        </p:nvSpPr>
        <p:spPr>
          <a:xfrm>
            <a:off x="4036541" y="2079476"/>
            <a:ext cx="10385986" cy="1009444"/>
          </a:xfrm>
          <a:prstGeom prst="rect">
            <a:avLst/>
          </a:prstGeom>
        </p:spPr>
        <p:txBody>
          <a:bodyPr wrap="square" lIns="0" tIns="0" rIns="0" bIns="0" rtlCol="0" anchor="t">
            <a:spAutoFit/>
          </a:bodyPr>
          <a:lstStyle/>
          <a:p>
            <a:pPr algn="l">
              <a:lnSpc>
                <a:spcPts val="2659"/>
              </a:lnSpc>
            </a:pPr>
            <a:r>
              <a:rPr lang="en-US" sz="1899" b="1" dirty="0">
                <a:solidFill>
                  <a:srgbClr val="FFFFFF"/>
                </a:solidFill>
                <a:latin typeface="Inter"/>
                <a:ea typeface="Inter"/>
                <a:cs typeface="Inter"/>
                <a:sym typeface="Inter"/>
              </a:rPr>
              <a:t>1. Most Attrition Happens in the First Year</a:t>
            </a:r>
          </a:p>
          <a:p>
            <a:pPr algn="l">
              <a:lnSpc>
                <a:spcPts val="2659"/>
              </a:lnSpc>
            </a:pPr>
            <a:r>
              <a:rPr lang="en-US" sz="1899" dirty="0">
                <a:solidFill>
                  <a:srgbClr val="FFFFFF"/>
                </a:solidFill>
                <a:latin typeface="Inter"/>
                <a:ea typeface="Inter"/>
                <a:cs typeface="Inter"/>
                <a:sym typeface="Inter"/>
              </a:rPr>
              <a:t>Nearly 1 in 4 employees who leave do so within their first year at the company. </a:t>
            </a:r>
          </a:p>
          <a:p>
            <a:pPr algn="l">
              <a:lnSpc>
                <a:spcPts val="2659"/>
              </a:lnSpc>
              <a:spcBef>
                <a:spcPct val="0"/>
              </a:spcBef>
            </a:pPr>
            <a:r>
              <a:rPr lang="en-US" sz="1899" dirty="0">
                <a:solidFill>
                  <a:srgbClr val="FFFFFF"/>
                </a:solidFill>
                <a:latin typeface="Inter"/>
                <a:ea typeface="Inter"/>
                <a:cs typeface="Inter"/>
                <a:sym typeface="Inter"/>
              </a:rPr>
              <a:t>This is far higher than any other year, showing a clear early exit pattern right after joining.</a:t>
            </a:r>
          </a:p>
        </p:txBody>
      </p:sp>
      <p:grpSp>
        <p:nvGrpSpPr>
          <p:cNvPr id="20" name="Group 20"/>
          <p:cNvGrpSpPr/>
          <p:nvPr/>
        </p:nvGrpSpPr>
        <p:grpSpPr>
          <a:xfrm>
            <a:off x="3871450" y="3658037"/>
            <a:ext cx="10686507" cy="1701754"/>
            <a:chOff x="0" y="0"/>
            <a:chExt cx="2814553" cy="448199"/>
          </a:xfrm>
        </p:grpSpPr>
        <p:sp>
          <p:nvSpPr>
            <p:cNvPr id="21" name="Freeform 21"/>
            <p:cNvSpPr/>
            <p:nvPr/>
          </p:nvSpPr>
          <p:spPr>
            <a:xfrm>
              <a:off x="0" y="0"/>
              <a:ext cx="2814553" cy="448199"/>
            </a:xfrm>
            <a:custGeom>
              <a:avLst/>
              <a:gdLst/>
              <a:ahLst/>
              <a:cxnLst/>
              <a:rect l="l" t="t" r="r" b="b"/>
              <a:pathLst>
                <a:path w="2814553" h="448199">
                  <a:moveTo>
                    <a:pt x="20285" y="0"/>
                  </a:moveTo>
                  <a:lnTo>
                    <a:pt x="2794268" y="0"/>
                  </a:lnTo>
                  <a:cubicBezTo>
                    <a:pt x="2805471" y="0"/>
                    <a:pt x="2814553" y="9082"/>
                    <a:pt x="2814553" y="20285"/>
                  </a:cubicBezTo>
                  <a:lnTo>
                    <a:pt x="2814553" y="427914"/>
                  </a:lnTo>
                  <a:cubicBezTo>
                    <a:pt x="2814553" y="439117"/>
                    <a:pt x="2805471" y="448199"/>
                    <a:pt x="2794268" y="448199"/>
                  </a:cubicBezTo>
                  <a:lnTo>
                    <a:pt x="20285" y="448199"/>
                  </a:lnTo>
                  <a:cubicBezTo>
                    <a:pt x="9082" y="448199"/>
                    <a:pt x="0" y="439117"/>
                    <a:pt x="0" y="427914"/>
                  </a:cubicBezTo>
                  <a:lnTo>
                    <a:pt x="0" y="20285"/>
                  </a:lnTo>
                  <a:cubicBezTo>
                    <a:pt x="0" y="9082"/>
                    <a:pt x="9082" y="0"/>
                    <a:pt x="20285" y="0"/>
                  </a:cubicBezTo>
                  <a:close/>
                </a:path>
              </a:pathLst>
            </a:custGeom>
            <a:solidFill>
              <a:srgbClr val="F26B0F"/>
            </a:solidFill>
          </p:spPr>
        </p:sp>
        <p:sp>
          <p:nvSpPr>
            <p:cNvPr id="22" name="TextBox 22"/>
            <p:cNvSpPr txBox="1"/>
            <p:nvPr/>
          </p:nvSpPr>
          <p:spPr>
            <a:xfrm>
              <a:off x="0" y="-38100"/>
              <a:ext cx="2814553" cy="486299"/>
            </a:xfrm>
            <a:prstGeom prst="rect">
              <a:avLst/>
            </a:prstGeom>
          </p:spPr>
          <p:txBody>
            <a:bodyPr lIns="50800" tIns="50800" rIns="50800" bIns="50800" rtlCol="0" anchor="ctr"/>
            <a:lstStyle/>
            <a:p>
              <a:pPr marL="0" lvl="0" indent="0" algn="ctr">
                <a:lnSpc>
                  <a:spcPts val="2659"/>
                </a:lnSpc>
              </a:pPr>
              <a:endParaRPr/>
            </a:p>
          </p:txBody>
        </p:sp>
      </p:grpSp>
      <p:sp>
        <p:nvSpPr>
          <p:cNvPr id="23" name="TextBox 23"/>
          <p:cNvSpPr txBox="1"/>
          <p:nvPr/>
        </p:nvSpPr>
        <p:spPr>
          <a:xfrm>
            <a:off x="3993732" y="3934081"/>
            <a:ext cx="10564225" cy="972574"/>
          </a:xfrm>
          <a:prstGeom prst="rect">
            <a:avLst/>
          </a:prstGeom>
        </p:spPr>
        <p:txBody>
          <a:bodyPr wrap="square" lIns="0" tIns="0" rIns="0" bIns="0" rtlCol="0" anchor="t">
            <a:spAutoFit/>
          </a:bodyPr>
          <a:lstStyle/>
          <a:p>
            <a:pPr algn="l">
              <a:lnSpc>
                <a:spcPts val="2585"/>
              </a:lnSpc>
            </a:pPr>
            <a:r>
              <a:rPr lang="en-US" sz="1846" b="1" dirty="0">
                <a:solidFill>
                  <a:srgbClr val="FFFFFF"/>
                </a:solidFill>
                <a:latin typeface="Inter"/>
                <a:ea typeface="Inter"/>
                <a:cs typeface="Inter"/>
                <a:sym typeface="Inter"/>
              </a:rPr>
              <a:t>2. Low Salary Is a Major Reason for Leaving </a:t>
            </a:r>
          </a:p>
          <a:p>
            <a:pPr algn="l">
              <a:lnSpc>
                <a:spcPts val="2585"/>
              </a:lnSpc>
            </a:pPr>
            <a:r>
              <a:rPr lang="en-US" sz="1846" dirty="0">
                <a:solidFill>
                  <a:srgbClr val="FFFFFF"/>
                </a:solidFill>
                <a:latin typeface="Inter"/>
                <a:ea typeface="Inter"/>
                <a:cs typeface="Inter"/>
                <a:sym typeface="Inter"/>
              </a:rPr>
              <a:t>Most attrition comes from the lowest salary group  — nearly 70% of all exits are employees earning in the lowest pay bracket. Attrition drops sharply as salary goes up.</a:t>
            </a:r>
          </a:p>
        </p:txBody>
      </p:sp>
      <p:grpSp>
        <p:nvGrpSpPr>
          <p:cNvPr id="24" name="Group 24"/>
          <p:cNvGrpSpPr/>
          <p:nvPr/>
        </p:nvGrpSpPr>
        <p:grpSpPr>
          <a:xfrm>
            <a:off x="3800747" y="5636016"/>
            <a:ext cx="10883742" cy="1729676"/>
            <a:chOff x="0" y="0"/>
            <a:chExt cx="2866500" cy="455552"/>
          </a:xfrm>
        </p:grpSpPr>
        <p:sp>
          <p:nvSpPr>
            <p:cNvPr id="25" name="Freeform 25"/>
            <p:cNvSpPr/>
            <p:nvPr/>
          </p:nvSpPr>
          <p:spPr>
            <a:xfrm>
              <a:off x="0" y="0"/>
              <a:ext cx="2866500" cy="455552"/>
            </a:xfrm>
            <a:custGeom>
              <a:avLst/>
              <a:gdLst/>
              <a:ahLst/>
              <a:cxnLst/>
              <a:rect l="l" t="t" r="r" b="b"/>
              <a:pathLst>
                <a:path w="2866500" h="455552">
                  <a:moveTo>
                    <a:pt x="19917" y="0"/>
                  </a:moveTo>
                  <a:lnTo>
                    <a:pt x="2846583" y="0"/>
                  </a:lnTo>
                  <a:cubicBezTo>
                    <a:pt x="2851865" y="0"/>
                    <a:pt x="2856931" y="2098"/>
                    <a:pt x="2860666" y="5834"/>
                  </a:cubicBezTo>
                  <a:cubicBezTo>
                    <a:pt x="2864402" y="9569"/>
                    <a:pt x="2866500" y="14635"/>
                    <a:pt x="2866500" y="19917"/>
                  </a:cubicBezTo>
                  <a:lnTo>
                    <a:pt x="2866500" y="435635"/>
                  </a:lnTo>
                  <a:cubicBezTo>
                    <a:pt x="2866500" y="440918"/>
                    <a:pt x="2864402" y="445984"/>
                    <a:pt x="2860666" y="449719"/>
                  </a:cubicBezTo>
                  <a:cubicBezTo>
                    <a:pt x="2856931" y="453454"/>
                    <a:pt x="2851865" y="455552"/>
                    <a:pt x="2846583" y="455552"/>
                  </a:cubicBezTo>
                  <a:lnTo>
                    <a:pt x="19917" y="455552"/>
                  </a:lnTo>
                  <a:cubicBezTo>
                    <a:pt x="14635" y="455552"/>
                    <a:pt x="9569" y="453454"/>
                    <a:pt x="5834" y="449719"/>
                  </a:cubicBezTo>
                  <a:cubicBezTo>
                    <a:pt x="2098" y="445984"/>
                    <a:pt x="0" y="440918"/>
                    <a:pt x="0" y="435635"/>
                  </a:cubicBezTo>
                  <a:lnTo>
                    <a:pt x="0" y="19917"/>
                  </a:lnTo>
                  <a:cubicBezTo>
                    <a:pt x="0" y="14635"/>
                    <a:pt x="2098" y="9569"/>
                    <a:pt x="5834" y="5834"/>
                  </a:cubicBezTo>
                  <a:cubicBezTo>
                    <a:pt x="9569" y="2098"/>
                    <a:pt x="14635" y="0"/>
                    <a:pt x="19917" y="0"/>
                  </a:cubicBezTo>
                  <a:close/>
                </a:path>
              </a:pathLst>
            </a:custGeom>
            <a:solidFill>
              <a:srgbClr val="F26B0F"/>
            </a:solidFill>
          </p:spPr>
        </p:sp>
        <p:sp>
          <p:nvSpPr>
            <p:cNvPr id="26" name="TextBox 26"/>
            <p:cNvSpPr txBox="1"/>
            <p:nvPr/>
          </p:nvSpPr>
          <p:spPr>
            <a:xfrm>
              <a:off x="0" y="-38100"/>
              <a:ext cx="2866500" cy="493652"/>
            </a:xfrm>
            <a:prstGeom prst="rect">
              <a:avLst/>
            </a:prstGeom>
          </p:spPr>
          <p:txBody>
            <a:bodyPr lIns="50800" tIns="50800" rIns="50800" bIns="50800" rtlCol="0" anchor="ctr"/>
            <a:lstStyle/>
            <a:p>
              <a:pPr marL="0" lvl="0" indent="0" algn="ctr">
                <a:lnSpc>
                  <a:spcPts val="2659"/>
                </a:lnSpc>
              </a:pPr>
              <a:endParaRPr/>
            </a:p>
          </p:txBody>
        </p:sp>
      </p:grpSp>
      <p:sp>
        <p:nvSpPr>
          <p:cNvPr id="27" name="TextBox 27"/>
          <p:cNvSpPr txBox="1"/>
          <p:nvPr/>
        </p:nvSpPr>
        <p:spPr>
          <a:xfrm>
            <a:off x="3985730" y="5912241"/>
            <a:ext cx="10813039" cy="1009444"/>
          </a:xfrm>
          <a:prstGeom prst="rect">
            <a:avLst/>
          </a:prstGeom>
        </p:spPr>
        <p:txBody>
          <a:bodyPr wrap="square" lIns="0" tIns="0" rIns="0" bIns="0" rtlCol="0" anchor="t">
            <a:spAutoFit/>
          </a:bodyPr>
          <a:lstStyle/>
          <a:p>
            <a:pPr algn="l">
              <a:lnSpc>
                <a:spcPts val="2659"/>
              </a:lnSpc>
            </a:pPr>
            <a:r>
              <a:rPr lang="en-US" sz="1899" b="1" dirty="0">
                <a:solidFill>
                  <a:srgbClr val="FFFFFF"/>
                </a:solidFill>
                <a:latin typeface="Inter"/>
                <a:ea typeface="Inter"/>
                <a:cs typeface="Inter"/>
                <a:sym typeface="Inter"/>
              </a:rPr>
              <a:t>3. Young Employees Leave the Most</a:t>
            </a:r>
          </a:p>
          <a:p>
            <a:pPr algn="l">
              <a:lnSpc>
                <a:spcPts val="2659"/>
              </a:lnSpc>
            </a:pPr>
            <a:r>
              <a:rPr lang="en-US" sz="1899" dirty="0">
                <a:solidFill>
                  <a:srgbClr val="FFFFFF"/>
                </a:solidFill>
                <a:latin typeface="Inter"/>
                <a:ea typeface="Inter"/>
                <a:cs typeface="Inter"/>
                <a:sym typeface="Inter"/>
              </a:rPr>
              <a:t>Employees aged 25-35 make up more than half of all attrition.</a:t>
            </a:r>
          </a:p>
          <a:p>
            <a:pPr algn="l">
              <a:lnSpc>
                <a:spcPts val="2659"/>
              </a:lnSpc>
              <a:spcBef>
                <a:spcPct val="0"/>
              </a:spcBef>
            </a:pPr>
            <a:r>
              <a:rPr lang="en-US" sz="1899" dirty="0">
                <a:solidFill>
                  <a:srgbClr val="FFFFFF"/>
                </a:solidFill>
                <a:latin typeface="Inter"/>
                <a:ea typeface="Inter"/>
                <a:cs typeface="Inter"/>
                <a:sym typeface="Inter"/>
              </a:rPr>
              <a:t> This age group is likely looking for faster growth, better pay, or new opportunities elsewhere.</a:t>
            </a:r>
          </a:p>
        </p:txBody>
      </p:sp>
      <p:grpSp>
        <p:nvGrpSpPr>
          <p:cNvPr id="28" name="Group 28"/>
          <p:cNvGrpSpPr/>
          <p:nvPr/>
        </p:nvGrpSpPr>
        <p:grpSpPr>
          <a:xfrm>
            <a:off x="3800747" y="7641917"/>
            <a:ext cx="10883742" cy="1731698"/>
            <a:chOff x="0" y="0"/>
            <a:chExt cx="2866500" cy="456085"/>
          </a:xfrm>
        </p:grpSpPr>
        <p:sp>
          <p:nvSpPr>
            <p:cNvPr id="29" name="Freeform 29"/>
            <p:cNvSpPr/>
            <p:nvPr/>
          </p:nvSpPr>
          <p:spPr>
            <a:xfrm>
              <a:off x="0" y="0"/>
              <a:ext cx="2866500" cy="456085"/>
            </a:xfrm>
            <a:custGeom>
              <a:avLst/>
              <a:gdLst/>
              <a:ahLst/>
              <a:cxnLst/>
              <a:rect l="l" t="t" r="r" b="b"/>
              <a:pathLst>
                <a:path w="2866500" h="456085">
                  <a:moveTo>
                    <a:pt x="19917" y="0"/>
                  </a:moveTo>
                  <a:lnTo>
                    <a:pt x="2846583" y="0"/>
                  </a:lnTo>
                  <a:cubicBezTo>
                    <a:pt x="2851865" y="0"/>
                    <a:pt x="2856931" y="2098"/>
                    <a:pt x="2860666" y="5834"/>
                  </a:cubicBezTo>
                  <a:cubicBezTo>
                    <a:pt x="2864402" y="9569"/>
                    <a:pt x="2866500" y="14635"/>
                    <a:pt x="2866500" y="19917"/>
                  </a:cubicBezTo>
                  <a:lnTo>
                    <a:pt x="2866500" y="436168"/>
                  </a:lnTo>
                  <a:cubicBezTo>
                    <a:pt x="2866500" y="441450"/>
                    <a:pt x="2864402" y="446516"/>
                    <a:pt x="2860666" y="450251"/>
                  </a:cubicBezTo>
                  <a:cubicBezTo>
                    <a:pt x="2856931" y="453987"/>
                    <a:pt x="2851865" y="456085"/>
                    <a:pt x="2846583" y="456085"/>
                  </a:cubicBezTo>
                  <a:lnTo>
                    <a:pt x="19917" y="456085"/>
                  </a:lnTo>
                  <a:cubicBezTo>
                    <a:pt x="8917" y="456085"/>
                    <a:pt x="0" y="447168"/>
                    <a:pt x="0" y="436168"/>
                  </a:cubicBezTo>
                  <a:lnTo>
                    <a:pt x="0" y="19917"/>
                  </a:lnTo>
                  <a:cubicBezTo>
                    <a:pt x="0" y="14635"/>
                    <a:pt x="2098" y="9569"/>
                    <a:pt x="5834" y="5834"/>
                  </a:cubicBezTo>
                  <a:cubicBezTo>
                    <a:pt x="9569" y="2098"/>
                    <a:pt x="14635" y="0"/>
                    <a:pt x="19917" y="0"/>
                  </a:cubicBezTo>
                  <a:close/>
                </a:path>
              </a:pathLst>
            </a:custGeom>
            <a:solidFill>
              <a:srgbClr val="F26B0F"/>
            </a:solidFill>
          </p:spPr>
        </p:sp>
        <p:sp>
          <p:nvSpPr>
            <p:cNvPr id="30" name="TextBox 30"/>
            <p:cNvSpPr txBox="1"/>
            <p:nvPr/>
          </p:nvSpPr>
          <p:spPr>
            <a:xfrm>
              <a:off x="0" y="-38100"/>
              <a:ext cx="2866500" cy="494185"/>
            </a:xfrm>
            <a:prstGeom prst="rect">
              <a:avLst/>
            </a:prstGeom>
          </p:spPr>
          <p:txBody>
            <a:bodyPr lIns="50800" tIns="50800" rIns="50800" bIns="50800" rtlCol="0" anchor="ctr"/>
            <a:lstStyle/>
            <a:p>
              <a:pPr marL="0" lvl="0" indent="0" algn="ctr">
                <a:lnSpc>
                  <a:spcPts val="2659"/>
                </a:lnSpc>
              </a:pPr>
              <a:endParaRPr/>
            </a:p>
          </p:txBody>
        </p:sp>
      </p:grpSp>
      <p:sp>
        <p:nvSpPr>
          <p:cNvPr id="31" name="TextBox 31"/>
          <p:cNvSpPr txBox="1"/>
          <p:nvPr/>
        </p:nvSpPr>
        <p:spPr>
          <a:xfrm>
            <a:off x="3871450" y="7853031"/>
            <a:ext cx="10813039" cy="1701941"/>
          </a:xfrm>
          <a:prstGeom prst="rect">
            <a:avLst/>
          </a:prstGeom>
        </p:spPr>
        <p:txBody>
          <a:bodyPr lIns="0" tIns="0" rIns="0" bIns="0" rtlCol="0" anchor="t">
            <a:spAutoFit/>
          </a:bodyPr>
          <a:lstStyle/>
          <a:p>
            <a:pPr algn="just">
              <a:lnSpc>
                <a:spcPts val="2659"/>
              </a:lnSpc>
            </a:pPr>
            <a:r>
              <a:rPr lang="en-US" sz="1899" b="1" dirty="0">
                <a:solidFill>
                  <a:srgbClr val="FFFFFF"/>
                </a:solidFill>
                <a:latin typeface="Inter"/>
                <a:ea typeface="Inter"/>
                <a:cs typeface="Inter"/>
                <a:sym typeface="Inter"/>
              </a:rPr>
              <a:t>4. Certain Job Roles Are at Higher Risk</a:t>
            </a:r>
          </a:p>
          <a:p>
            <a:pPr algn="just">
              <a:lnSpc>
                <a:spcPts val="2659"/>
              </a:lnSpc>
            </a:pPr>
            <a:r>
              <a:rPr lang="en-US" sz="1899" dirty="0">
                <a:solidFill>
                  <a:srgbClr val="FFFFFF"/>
                </a:solidFill>
                <a:latin typeface="Inter"/>
                <a:ea typeface="Inter"/>
                <a:cs typeface="Inter"/>
                <a:sym typeface="Inter"/>
              </a:rPr>
              <a:t>Lab Technician and Sales Executive have the highest number of exits. These roles also show lower satisfaction scores, meaning people in these jobs are genuinely unhappy, not just moving on naturally.</a:t>
            </a:r>
          </a:p>
          <a:p>
            <a:pPr algn="just">
              <a:lnSpc>
                <a:spcPts val="2659"/>
              </a:lnSpc>
              <a:spcBef>
                <a:spcPct val="0"/>
              </a:spcBef>
            </a:pPr>
            <a:endParaRPr lang="en-US" sz="1899" dirty="0">
              <a:solidFill>
                <a:srgbClr val="FFFFFF"/>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grpSp>
        <p:nvGrpSpPr>
          <p:cNvPr id="2" name="Group 2"/>
          <p:cNvGrpSpPr/>
          <p:nvPr/>
        </p:nvGrpSpPr>
        <p:grpSpPr>
          <a:xfrm>
            <a:off x="3871450" y="1249958"/>
            <a:ext cx="10686507" cy="2129114"/>
            <a:chOff x="0" y="0"/>
            <a:chExt cx="2814553" cy="560754"/>
          </a:xfrm>
        </p:grpSpPr>
        <p:sp>
          <p:nvSpPr>
            <p:cNvPr id="3" name="Freeform 3"/>
            <p:cNvSpPr/>
            <p:nvPr/>
          </p:nvSpPr>
          <p:spPr>
            <a:xfrm>
              <a:off x="0" y="0"/>
              <a:ext cx="2814553" cy="560754"/>
            </a:xfrm>
            <a:custGeom>
              <a:avLst/>
              <a:gdLst/>
              <a:ahLst/>
              <a:cxnLst/>
              <a:rect l="l" t="t" r="r" b="b"/>
              <a:pathLst>
                <a:path w="2814553" h="560754">
                  <a:moveTo>
                    <a:pt x="20285" y="0"/>
                  </a:moveTo>
                  <a:lnTo>
                    <a:pt x="2794268" y="0"/>
                  </a:lnTo>
                  <a:cubicBezTo>
                    <a:pt x="2805471" y="0"/>
                    <a:pt x="2814553" y="9082"/>
                    <a:pt x="2814553" y="20285"/>
                  </a:cubicBezTo>
                  <a:lnTo>
                    <a:pt x="2814553" y="540470"/>
                  </a:lnTo>
                  <a:cubicBezTo>
                    <a:pt x="2814553" y="551673"/>
                    <a:pt x="2805471" y="560754"/>
                    <a:pt x="2794268" y="560754"/>
                  </a:cubicBezTo>
                  <a:lnTo>
                    <a:pt x="20285" y="560754"/>
                  </a:lnTo>
                  <a:cubicBezTo>
                    <a:pt x="9082" y="560754"/>
                    <a:pt x="0" y="551673"/>
                    <a:pt x="0" y="540470"/>
                  </a:cubicBezTo>
                  <a:lnTo>
                    <a:pt x="0" y="20285"/>
                  </a:lnTo>
                  <a:cubicBezTo>
                    <a:pt x="0" y="9082"/>
                    <a:pt x="9082" y="0"/>
                    <a:pt x="20285" y="0"/>
                  </a:cubicBezTo>
                  <a:close/>
                </a:path>
              </a:pathLst>
            </a:custGeom>
            <a:solidFill>
              <a:srgbClr val="F26B0F"/>
            </a:solidFill>
          </p:spPr>
        </p:sp>
        <p:sp>
          <p:nvSpPr>
            <p:cNvPr id="4" name="TextBox 4"/>
            <p:cNvSpPr txBox="1"/>
            <p:nvPr/>
          </p:nvSpPr>
          <p:spPr>
            <a:xfrm>
              <a:off x="0" y="-38100"/>
              <a:ext cx="2814553" cy="598854"/>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2889006" y="9701810"/>
            <a:ext cx="24066013" cy="1186676"/>
            <a:chOff x="0" y="0"/>
            <a:chExt cx="6338374" cy="312540"/>
          </a:xfrm>
        </p:grpSpPr>
        <p:sp>
          <p:nvSpPr>
            <p:cNvPr id="6" name="Freeform 6"/>
            <p:cNvSpPr/>
            <p:nvPr/>
          </p:nvSpPr>
          <p:spPr>
            <a:xfrm>
              <a:off x="0" y="0"/>
              <a:ext cx="6338374" cy="312540"/>
            </a:xfrm>
            <a:custGeom>
              <a:avLst/>
              <a:gdLst/>
              <a:ahLst/>
              <a:cxnLst/>
              <a:rect l="l" t="t" r="r" b="b"/>
              <a:pathLst>
                <a:path w="6338374" h="312540">
                  <a:moveTo>
                    <a:pt x="3169187" y="0"/>
                  </a:moveTo>
                  <a:cubicBezTo>
                    <a:pt x="1418893" y="0"/>
                    <a:pt x="0" y="69964"/>
                    <a:pt x="0" y="156270"/>
                  </a:cubicBezTo>
                  <a:cubicBezTo>
                    <a:pt x="0" y="242576"/>
                    <a:pt x="1418893" y="312540"/>
                    <a:pt x="3169187" y="312540"/>
                  </a:cubicBezTo>
                  <a:cubicBezTo>
                    <a:pt x="4919480" y="312540"/>
                    <a:pt x="6338374" y="242576"/>
                    <a:pt x="6338374" y="156270"/>
                  </a:cubicBezTo>
                  <a:cubicBezTo>
                    <a:pt x="6338374" y="69964"/>
                    <a:pt x="4919480" y="0"/>
                    <a:pt x="3169187" y="0"/>
                  </a:cubicBezTo>
                  <a:close/>
                </a:path>
              </a:pathLst>
            </a:custGeom>
            <a:solidFill>
              <a:srgbClr val="FFDE59"/>
            </a:solidFill>
          </p:spPr>
        </p:sp>
        <p:sp>
          <p:nvSpPr>
            <p:cNvPr id="7" name="TextBox 7"/>
            <p:cNvSpPr txBox="1"/>
            <p:nvPr/>
          </p:nvSpPr>
          <p:spPr>
            <a:xfrm>
              <a:off x="594223" y="-8799"/>
              <a:ext cx="5149929" cy="292039"/>
            </a:xfrm>
            <a:prstGeom prst="rect">
              <a:avLst/>
            </a:prstGeom>
          </p:spPr>
          <p:txBody>
            <a:bodyPr lIns="50800" tIns="50800" rIns="50800" bIns="50800" rtlCol="0" anchor="ctr"/>
            <a:lstStyle/>
            <a:p>
              <a:pPr marL="0" lvl="0" indent="0" algn="ctr">
                <a:lnSpc>
                  <a:spcPts val="2659"/>
                </a:lnSpc>
              </a:pPr>
              <a:endParaRPr/>
            </a:p>
          </p:txBody>
        </p:sp>
      </p:grpSp>
      <p:sp>
        <p:nvSpPr>
          <p:cNvPr id="8" name="Freeform 8"/>
          <p:cNvSpPr/>
          <p:nvPr/>
        </p:nvSpPr>
        <p:spPr>
          <a:xfrm rot="-8624752">
            <a:off x="8184696" y="8435430"/>
            <a:ext cx="1085674" cy="1556523"/>
          </a:xfrm>
          <a:custGeom>
            <a:avLst/>
            <a:gdLst/>
            <a:ahLst/>
            <a:cxnLst/>
            <a:rect l="l" t="t" r="r" b="b"/>
            <a:pathLst>
              <a:path w="1085674" h="1556523">
                <a:moveTo>
                  <a:pt x="0" y="0"/>
                </a:moveTo>
                <a:lnTo>
                  <a:pt x="1085675" y="0"/>
                </a:lnTo>
                <a:lnTo>
                  <a:pt x="1085675" y="1556523"/>
                </a:lnTo>
                <a:lnTo>
                  <a:pt x="0" y="155652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rot="3736269">
            <a:off x="16350030" y="8147038"/>
            <a:ext cx="856381" cy="1227787"/>
          </a:xfrm>
          <a:custGeom>
            <a:avLst/>
            <a:gdLst/>
            <a:ahLst/>
            <a:cxnLst/>
            <a:rect l="l" t="t" r="r" b="b"/>
            <a:pathLst>
              <a:path w="856381" h="1227787">
                <a:moveTo>
                  <a:pt x="0" y="0"/>
                </a:moveTo>
                <a:lnTo>
                  <a:pt x="856381" y="0"/>
                </a:lnTo>
                <a:lnTo>
                  <a:pt x="856381" y="1227786"/>
                </a:lnTo>
                <a:lnTo>
                  <a:pt x="0" y="122778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233304" y="2662648"/>
            <a:ext cx="2956182" cy="2253254"/>
          </a:xfrm>
          <a:custGeom>
            <a:avLst/>
            <a:gdLst/>
            <a:ahLst/>
            <a:cxnLst/>
            <a:rect l="l" t="t" r="r" b="b"/>
            <a:pathLst>
              <a:path w="2956182" h="2253254">
                <a:moveTo>
                  <a:pt x="0" y="0"/>
                </a:moveTo>
                <a:lnTo>
                  <a:pt x="2956182" y="0"/>
                </a:lnTo>
                <a:lnTo>
                  <a:pt x="2956182" y="2253254"/>
                </a:lnTo>
                <a:lnTo>
                  <a:pt x="0" y="225325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rot="7612064">
            <a:off x="17420867" y="2450918"/>
            <a:ext cx="1085674" cy="1556523"/>
          </a:xfrm>
          <a:custGeom>
            <a:avLst/>
            <a:gdLst/>
            <a:ahLst/>
            <a:cxnLst/>
            <a:rect l="l" t="t" r="r" b="b"/>
            <a:pathLst>
              <a:path w="1085674" h="1556523">
                <a:moveTo>
                  <a:pt x="0" y="0"/>
                </a:moveTo>
                <a:lnTo>
                  <a:pt x="1085675" y="0"/>
                </a:lnTo>
                <a:lnTo>
                  <a:pt x="1085675" y="1556522"/>
                </a:lnTo>
                <a:lnTo>
                  <a:pt x="0" y="155652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2" name="Group 12"/>
          <p:cNvGrpSpPr/>
          <p:nvPr/>
        </p:nvGrpSpPr>
        <p:grpSpPr>
          <a:xfrm>
            <a:off x="3871450" y="3658037"/>
            <a:ext cx="10686507" cy="1701754"/>
            <a:chOff x="0" y="0"/>
            <a:chExt cx="2814553" cy="448199"/>
          </a:xfrm>
        </p:grpSpPr>
        <p:sp>
          <p:nvSpPr>
            <p:cNvPr id="13" name="Freeform 13"/>
            <p:cNvSpPr/>
            <p:nvPr/>
          </p:nvSpPr>
          <p:spPr>
            <a:xfrm>
              <a:off x="0" y="0"/>
              <a:ext cx="2814553" cy="448199"/>
            </a:xfrm>
            <a:custGeom>
              <a:avLst/>
              <a:gdLst/>
              <a:ahLst/>
              <a:cxnLst/>
              <a:rect l="l" t="t" r="r" b="b"/>
              <a:pathLst>
                <a:path w="2814553" h="448199">
                  <a:moveTo>
                    <a:pt x="20285" y="0"/>
                  </a:moveTo>
                  <a:lnTo>
                    <a:pt x="2794268" y="0"/>
                  </a:lnTo>
                  <a:cubicBezTo>
                    <a:pt x="2805471" y="0"/>
                    <a:pt x="2814553" y="9082"/>
                    <a:pt x="2814553" y="20285"/>
                  </a:cubicBezTo>
                  <a:lnTo>
                    <a:pt x="2814553" y="427914"/>
                  </a:lnTo>
                  <a:cubicBezTo>
                    <a:pt x="2814553" y="439117"/>
                    <a:pt x="2805471" y="448199"/>
                    <a:pt x="2794268" y="448199"/>
                  </a:cubicBezTo>
                  <a:lnTo>
                    <a:pt x="20285" y="448199"/>
                  </a:lnTo>
                  <a:cubicBezTo>
                    <a:pt x="9082" y="448199"/>
                    <a:pt x="0" y="439117"/>
                    <a:pt x="0" y="427914"/>
                  </a:cubicBezTo>
                  <a:lnTo>
                    <a:pt x="0" y="20285"/>
                  </a:lnTo>
                  <a:cubicBezTo>
                    <a:pt x="0" y="9082"/>
                    <a:pt x="9082" y="0"/>
                    <a:pt x="20285" y="0"/>
                  </a:cubicBezTo>
                  <a:close/>
                </a:path>
              </a:pathLst>
            </a:custGeom>
            <a:solidFill>
              <a:srgbClr val="F26B0F"/>
            </a:solidFill>
          </p:spPr>
        </p:sp>
        <p:sp>
          <p:nvSpPr>
            <p:cNvPr id="14" name="TextBox 14"/>
            <p:cNvSpPr txBox="1"/>
            <p:nvPr/>
          </p:nvSpPr>
          <p:spPr>
            <a:xfrm>
              <a:off x="0" y="-38100"/>
              <a:ext cx="2814553" cy="486299"/>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3871450" y="5874875"/>
            <a:ext cx="10883742" cy="2120577"/>
            <a:chOff x="0" y="0"/>
            <a:chExt cx="2866500" cy="558506"/>
          </a:xfrm>
        </p:grpSpPr>
        <p:sp>
          <p:nvSpPr>
            <p:cNvPr id="16" name="Freeform 16"/>
            <p:cNvSpPr/>
            <p:nvPr/>
          </p:nvSpPr>
          <p:spPr>
            <a:xfrm>
              <a:off x="0" y="0"/>
              <a:ext cx="2866500" cy="558506"/>
            </a:xfrm>
            <a:custGeom>
              <a:avLst/>
              <a:gdLst/>
              <a:ahLst/>
              <a:cxnLst/>
              <a:rect l="l" t="t" r="r" b="b"/>
              <a:pathLst>
                <a:path w="2866500" h="558506">
                  <a:moveTo>
                    <a:pt x="19917" y="0"/>
                  </a:moveTo>
                  <a:lnTo>
                    <a:pt x="2846583" y="0"/>
                  </a:lnTo>
                  <a:cubicBezTo>
                    <a:pt x="2851865" y="0"/>
                    <a:pt x="2856931" y="2098"/>
                    <a:pt x="2860666" y="5834"/>
                  </a:cubicBezTo>
                  <a:cubicBezTo>
                    <a:pt x="2864402" y="9569"/>
                    <a:pt x="2866500" y="14635"/>
                    <a:pt x="2866500" y="19917"/>
                  </a:cubicBezTo>
                  <a:lnTo>
                    <a:pt x="2866500" y="538589"/>
                  </a:lnTo>
                  <a:cubicBezTo>
                    <a:pt x="2866500" y="543871"/>
                    <a:pt x="2864402" y="548937"/>
                    <a:pt x="2860666" y="552672"/>
                  </a:cubicBezTo>
                  <a:cubicBezTo>
                    <a:pt x="2856931" y="556407"/>
                    <a:pt x="2851865" y="558506"/>
                    <a:pt x="2846583" y="558506"/>
                  </a:cubicBezTo>
                  <a:lnTo>
                    <a:pt x="19917" y="558506"/>
                  </a:lnTo>
                  <a:cubicBezTo>
                    <a:pt x="8917" y="558506"/>
                    <a:pt x="0" y="549589"/>
                    <a:pt x="0" y="538589"/>
                  </a:cubicBezTo>
                  <a:lnTo>
                    <a:pt x="0" y="19917"/>
                  </a:lnTo>
                  <a:cubicBezTo>
                    <a:pt x="0" y="14635"/>
                    <a:pt x="2098" y="9569"/>
                    <a:pt x="5834" y="5834"/>
                  </a:cubicBezTo>
                  <a:cubicBezTo>
                    <a:pt x="9569" y="2098"/>
                    <a:pt x="14635" y="0"/>
                    <a:pt x="19917" y="0"/>
                  </a:cubicBezTo>
                  <a:close/>
                </a:path>
              </a:pathLst>
            </a:custGeom>
            <a:solidFill>
              <a:srgbClr val="F26B0F"/>
            </a:solidFill>
          </p:spPr>
        </p:sp>
        <p:sp>
          <p:nvSpPr>
            <p:cNvPr id="17" name="TextBox 17"/>
            <p:cNvSpPr txBox="1"/>
            <p:nvPr/>
          </p:nvSpPr>
          <p:spPr>
            <a:xfrm>
              <a:off x="0" y="-38100"/>
              <a:ext cx="2866500" cy="596606"/>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4011058" y="1633795"/>
            <a:ext cx="9919247" cy="1701941"/>
          </a:xfrm>
          <a:prstGeom prst="rect">
            <a:avLst/>
          </a:prstGeom>
        </p:spPr>
        <p:txBody>
          <a:bodyPr wrap="square" lIns="0" tIns="0" rIns="0" bIns="0" rtlCol="0" anchor="t">
            <a:spAutoFit/>
          </a:bodyPr>
          <a:lstStyle/>
          <a:p>
            <a:pPr>
              <a:lnSpc>
                <a:spcPts val="2659"/>
              </a:lnSpc>
            </a:pPr>
            <a:r>
              <a:rPr lang="en-US" sz="1899" b="1" dirty="0">
                <a:solidFill>
                  <a:srgbClr val="FFFFFF"/>
                </a:solidFill>
                <a:latin typeface="Inter"/>
                <a:ea typeface="Inter"/>
                <a:cs typeface="Inter"/>
                <a:sym typeface="Inter"/>
              </a:rPr>
              <a:t>5. Job Satisfaction Alone Doesn't Explain Everything</a:t>
            </a:r>
          </a:p>
          <a:p>
            <a:pPr>
              <a:lnSpc>
                <a:spcPts val="2659"/>
              </a:lnSpc>
            </a:pPr>
            <a:r>
              <a:rPr lang="en-US" sz="1899" dirty="0">
                <a:solidFill>
                  <a:srgbClr val="FFFFFF"/>
                </a:solidFill>
                <a:latin typeface="Inter"/>
                <a:ea typeface="Inter"/>
                <a:cs typeface="Inter"/>
                <a:sym typeface="Inter"/>
              </a:rPr>
              <a:t>Even 52 employees who rated  their satisfaction as high still left the company. </a:t>
            </a:r>
          </a:p>
          <a:p>
            <a:pPr>
              <a:lnSpc>
                <a:spcPts val="2659"/>
              </a:lnSpc>
            </a:pPr>
            <a:r>
              <a:rPr lang="en-US" sz="1899" dirty="0">
                <a:solidFill>
                  <a:srgbClr val="FFFFFF"/>
                </a:solidFill>
                <a:latin typeface="Inter"/>
                <a:ea typeface="Inter"/>
                <a:cs typeface="Inter"/>
                <a:sym typeface="Inter"/>
              </a:rPr>
              <a:t>This shows that pay, growth, or outside offers matter just as much as day-to-day happiness at work.</a:t>
            </a:r>
          </a:p>
          <a:p>
            <a:pPr algn="ctr">
              <a:lnSpc>
                <a:spcPts val="2659"/>
              </a:lnSpc>
              <a:spcBef>
                <a:spcPct val="0"/>
              </a:spcBef>
            </a:pPr>
            <a:endParaRPr lang="en-US" sz="1899" dirty="0">
              <a:solidFill>
                <a:srgbClr val="FFFFFF"/>
              </a:solidFill>
              <a:latin typeface="Inter"/>
              <a:ea typeface="Inter"/>
              <a:cs typeface="Inter"/>
              <a:sym typeface="Inter"/>
            </a:endParaRPr>
          </a:p>
        </p:txBody>
      </p:sp>
      <p:sp>
        <p:nvSpPr>
          <p:cNvPr id="19" name="TextBox 19"/>
          <p:cNvSpPr txBox="1"/>
          <p:nvPr/>
        </p:nvSpPr>
        <p:spPr>
          <a:xfrm>
            <a:off x="4017304" y="3981564"/>
            <a:ext cx="9919247" cy="865430"/>
          </a:xfrm>
          <a:prstGeom prst="rect">
            <a:avLst/>
          </a:prstGeom>
        </p:spPr>
        <p:txBody>
          <a:bodyPr lIns="0" tIns="0" rIns="0" bIns="0" rtlCol="0" anchor="t">
            <a:spAutoFit/>
          </a:bodyPr>
          <a:lstStyle/>
          <a:p>
            <a:pPr algn="l">
              <a:lnSpc>
                <a:spcPts val="2284"/>
              </a:lnSpc>
              <a:spcBef>
                <a:spcPct val="0"/>
              </a:spcBef>
            </a:pPr>
            <a:r>
              <a:rPr lang="en-US" sz="1632" b="1" dirty="0">
                <a:solidFill>
                  <a:srgbClr val="FFFFFF"/>
                </a:solidFill>
                <a:latin typeface="Inter"/>
                <a:ea typeface="Inter"/>
                <a:cs typeface="Inter"/>
                <a:sym typeface="Inter"/>
              </a:rPr>
              <a:t>6</a:t>
            </a:r>
            <a:r>
              <a:rPr lang="en-US" b="1" dirty="0">
                <a:solidFill>
                  <a:srgbClr val="FFFFFF"/>
                </a:solidFill>
                <a:latin typeface="Inter"/>
                <a:ea typeface="Inter"/>
                <a:cs typeface="Inter"/>
                <a:sym typeface="Inter"/>
              </a:rPr>
              <a:t>. Life Sciences and Medical Employees Are the Biggest Risk </a:t>
            </a:r>
          </a:p>
          <a:p>
            <a:pPr algn="l">
              <a:lnSpc>
                <a:spcPts val="2284"/>
              </a:lnSpc>
              <a:spcBef>
                <a:spcPct val="0"/>
              </a:spcBef>
            </a:pPr>
            <a:r>
              <a:rPr lang="en-US" dirty="0">
                <a:solidFill>
                  <a:srgbClr val="FFFFFF"/>
                </a:solidFill>
                <a:latin typeface="Inter"/>
                <a:ea typeface="Inter"/>
                <a:cs typeface="Inter"/>
                <a:sym typeface="Inter"/>
              </a:rPr>
              <a:t>Group these two education backgrounds make up 73% of all attrition. Since they likely form the largest part of the workforce, losing them means losing valuable skills and knowledge.</a:t>
            </a:r>
          </a:p>
        </p:txBody>
      </p:sp>
      <p:sp>
        <p:nvSpPr>
          <p:cNvPr id="20" name="TextBox 20"/>
          <p:cNvSpPr txBox="1"/>
          <p:nvPr/>
        </p:nvSpPr>
        <p:spPr>
          <a:xfrm>
            <a:off x="3970068" y="6277835"/>
            <a:ext cx="10686507" cy="1208472"/>
          </a:xfrm>
          <a:prstGeom prst="rect">
            <a:avLst/>
          </a:prstGeom>
        </p:spPr>
        <p:txBody>
          <a:bodyPr lIns="0" tIns="0" rIns="0" bIns="0" rtlCol="0" anchor="t">
            <a:spAutoFit/>
          </a:bodyPr>
          <a:lstStyle/>
          <a:p>
            <a:pPr algn="l">
              <a:lnSpc>
                <a:spcPts val="2418"/>
              </a:lnSpc>
            </a:pPr>
            <a:r>
              <a:rPr lang="en-US" b="1" dirty="0">
                <a:solidFill>
                  <a:srgbClr val="FFFFFF"/>
                </a:solidFill>
                <a:latin typeface="Inter"/>
                <a:ea typeface="Inter"/>
                <a:cs typeface="Inter"/>
                <a:sym typeface="Inter"/>
              </a:rPr>
              <a:t>7. Leadership Roles Are Stable</a:t>
            </a:r>
          </a:p>
          <a:p>
            <a:pPr algn="l">
              <a:lnSpc>
                <a:spcPts val="2418"/>
              </a:lnSpc>
            </a:pPr>
            <a:r>
              <a:rPr lang="en-US" dirty="0">
                <a:solidFill>
                  <a:srgbClr val="FFFFFF"/>
                </a:solidFill>
                <a:latin typeface="Inter"/>
                <a:ea typeface="Inter"/>
                <a:cs typeface="Inter"/>
                <a:sym typeface="Inter"/>
              </a:rPr>
              <a:t>Junior Roles Are Not Senior roles like Research Director, Manager, and  Healthcare Representative show very low attrition. This proves the real problem is limited to certain junior roles and early career stages — not the whole company.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grpSp>
        <p:nvGrpSpPr>
          <p:cNvPr id="2" name="Group 2"/>
          <p:cNvGrpSpPr/>
          <p:nvPr/>
        </p:nvGrpSpPr>
        <p:grpSpPr>
          <a:xfrm>
            <a:off x="-1134441" y="0"/>
            <a:ext cx="20556882" cy="10287000"/>
            <a:chOff x="0" y="0"/>
            <a:chExt cx="27409176"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3693176"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a:off x="-2889006" y="9258300"/>
            <a:ext cx="24066013" cy="1630186"/>
            <a:chOff x="0" y="0"/>
            <a:chExt cx="6338374" cy="429349"/>
          </a:xfrm>
        </p:grpSpPr>
        <p:sp>
          <p:nvSpPr>
            <p:cNvPr id="6" name="Freeform 6"/>
            <p:cNvSpPr/>
            <p:nvPr/>
          </p:nvSpPr>
          <p:spPr>
            <a:xfrm>
              <a:off x="0" y="0"/>
              <a:ext cx="6338374" cy="429349"/>
            </a:xfrm>
            <a:custGeom>
              <a:avLst/>
              <a:gdLst/>
              <a:ahLst/>
              <a:cxnLst/>
              <a:rect l="l" t="t" r="r" b="b"/>
              <a:pathLst>
                <a:path w="6338374" h="429349">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id="7" name="TextBox 7"/>
            <p:cNvSpPr txBox="1"/>
            <p:nvPr/>
          </p:nvSpPr>
          <p:spPr>
            <a:xfrm>
              <a:off x="594223" y="2152"/>
              <a:ext cx="5149929" cy="386946"/>
            </a:xfrm>
            <a:prstGeom prst="rect">
              <a:avLst/>
            </a:prstGeom>
          </p:spPr>
          <p:txBody>
            <a:bodyPr lIns="50800" tIns="50800" rIns="50800" bIns="50800" rtlCol="0" anchor="ctr"/>
            <a:lstStyle/>
            <a:p>
              <a:pPr marL="0" lvl="0" indent="0" algn="ctr">
                <a:lnSpc>
                  <a:spcPts val="2659"/>
                </a:lnSpc>
              </a:pPr>
              <a:endParaRPr/>
            </a:p>
          </p:txBody>
        </p:sp>
      </p:grpSp>
      <p:sp>
        <p:nvSpPr>
          <p:cNvPr id="8" name="Freeform 8"/>
          <p:cNvSpPr/>
          <p:nvPr/>
        </p:nvSpPr>
        <p:spPr>
          <a:xfrm rot="-8624752">
            <a:off x="785499" y="3828383"/>
            <a:ext cx="1085674" cy="1556523"/>
          </a:xfrm>
          <a:custGeom>
            <a:avLst/>
            <a:gdLst/>
            <a:ahLst/>
            <a:cxnLst/>
            <a:rect l="l" t="t" r="r" b="b"/>
            <a:pathLst>
              <a:path w="1085674" h="1556523">
                <a:moveTo>
                  <a:pt x="0" y="0"/>
                </a:moveTo>
                <a:lnTo>
                  <a:pt x="1085675" y="0"/>
                </a:lnTo>
                <a:lnTo>
                  <a:pt x="1085675" y="1556523"/>
                </a:lnTo>
                <a:lnTo>
                  <a:pt x="0" y="155652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804219" y="-75469"/>
            <a:ext cx="3220900" cy="3598770"/>
          </a:xfrm>
          <a:custGeom>
            <a:avLst/>
            <a:gdLst/>
            <a:ahLst/>
            <a:cxnLst/>
            <a:rect l="l" t="t" r="r" b="b"/>
            <a:pathLst>
              <a:path w="3220900" h="3598770">
                <a:moveTo>
                  <a:pt x="0" y="0"/>
                </a:moveTo>
                <a:lnTo>
                  <a:pt x="3220899" y="0"/>
                </a:lnTo>
                <a:lnTo>
                  <a:pt x="3220899" y="3598770"/>
                </a:lnTo>
                <a:lnTo>
                  <a:pt x="0" y="3598770"/>
                </a:lnTo>
                <a:lnTo>
                  <a:pt x="0" y="0"/>
                </a:lnTo>
                <a:close/>
              </a:path>
            </a:pathLst>
          </a:custGeom>
          <a:blipFill>
            <a:blip r:embed="rId4"/>
            <a:stretch>
              <a:fillRect/>
            </a:stretch>
          </a:blipFill>
        </p:spPr>
      </p:sp>
      <p:sp>
        <p:nvSpPr>
          <p:cNvPr id="10" name="TextBox 10"/>
          <p:cNvSpPr txBox="1"/>
          <p:nvPr/>
        </p:nvSpPr>
        <p:spPr>
          <a:xfrm>
            <a:off x="4665073" y="874364"/>
            <a:ext cx="8957854" cy="657611"/>
          </a:xfrm>
          <a:prstGeom prst="rect">
            <a:avLst/>
          </a:prstGeom>
        </p:spPr>
        <p:txBody>
          <a:bodyPr lIns="0" tIns="0" rIns="0" bIns="0" rtlCol="0" anchor="t">
            <a:spAutoFit/>
          </a:bodyPr>
          <a:lstStyle/>
          <a:p>
            <a:pPr marL="0" lvl="0" indent="0" algn="l">
              <a:lnSpc>
                <a:spcPts val="4812"/>
              </a:lnSpc>
            </a:pPr>
            <a:r>
              <a:rPr lang="en-US" sz="5012">
                <a:solidFill>
                  <a:srgbClr val="FFFFFF"/>
                </a:solidFill>
                <a:latin typeface="Lilita One"/>
                <a:ea typeface="Lilita One"/>
                <a:cs typeface="Lilita One"/>
                <a:sym typeface="Lilita One"/>
              </a:rPr>
              <a:t>BUSINESS RECOMMENDATIONS</a:t>
            </a:r>
          </a:p>
        </p:txBody>
      </p:sp>
      <p:sp>
        <p:nvSpPr>
          <p:cNvPr id="11" name="Freeform 11"/>
          <p:cNvSpPr/>
          <p:nvPr/>
        </p:nvSpPr>
        <p:spPr>
          <a:xfrm rot="7612064">
            <a:off x="17420867" y="2450918"/>
            <a:ext cx="1085674" cy="1556523"/>
          </a:xfrm>
          <a:custGeom>
            <a:avLst/>
            <a:gdLst/>
            <a:ahLst/>
            <a:cxnLst/>
            <a:rect l="l" t="t" r="r" b="b"/>
            <a:pathLst>
              <a:path w="1085674" h="1556523">
                <a:moveTo>
                  <a:pt x="0" y="0"/>
                </a:moveTo>
                <a:lnTo>
                  <a:pt x="1085675" y="0"/>
                </a:lnTo>
                <a:lnTo>
                  <a:pt x="1085675" y="1556522"/>
                </a:lnTo>
                <a:lnTo>
                  <a:pt x="0" y="1556522"/>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3650008" y="970258"/>
            <a:ext cx="361049" cy="36104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2280576" y="2495912"/>
            <a:ext cx="6863424" cy="2312530"/>
            <a:chOff x="0" y="0"/>
            <a:chExt cx="1807651" cy="609061"/>
          </a:xfrm>
        </p:grpSpPr>
        <p:sp>
          <p:nvSpPr>
            <p:cNvPr id="16" name="Freeform 16"/>
            <p:cNvSpPr/>
            <p:nvPr/>
          </p:nvSpPr>
          <p:spPr>
            <a:xfrm>
              <a:off x="0" y="0"/>
              <a:ext cx="1807651" cy="609061"/>
            </a:xfrm>
            <a:custGeom>
              <a:avLst/>
              <a:gdLst/>
              <a:ahLst/>
              <a:cxnLst/>
              <a:rect l="l" t="t" r="r" b="b"/>
              <a:pathLst>
                <a:path w="1807651" h="609061">
                  <a:moveTo>
                    <a:pt x="31584" y="0"/>
                  </a:moveTo>
                  <a:lnTo>
                    <a:pt x="1776067" y="0"/>
                  </a:lnTo>
                  <a:cubicBezTo>
                    <a:pt x="1784443" y="0"/>
                    <a:pt x="1792477" y="3328"/>
                    <a:pt x="1798400" y="9251"/>
                  </a:cubicBezTo>
                  <a:cubicBezTo>
                    <a:pt x="1804323" y="15174"/>
                    <a:pt x="1807651" y="23207"/>
                    <a:pt x="1807651" y="31584"/>
                  </a:cubicBezTo>
                  <a:lnTo>
                    <a:pt x="1807651" y="577478"/>
                  </a:lnTo>
                  <a:cubicBezTo>
                    <a:pt x="1807651" y="585854"/>
                    <a:pt x="1804323" y="593888"/>
                    <a:pt x="1798400" y="599811"/>
                  </a:cubicBezTo>
                  <a:cubicBezTo>
                    <a:pt x="1792477" y="605734"/>
                    <a:pt x="1784443" y="609061"/>
                    <a:pt x="1776067" y="609061"/>
                  </a:cubicBezTo>
                  <a:lnTo>
                    <a:pt x="31584" y="609061"/>
                  </a:lnTo>
                  <a:cubicBezTo>
                    <a:pt x="14141" y="609061"/>
                    <a:pt x="0" y="594921"/>
                    <a:pt x="0" y="577478"/>
                  </a:cubicBezTo>
                  <a:lnTo>
                    <a:pt x="0" y="31584"/>
                  </a:lnTo>
                  <a:cubicBezTo>
                    <a:pt x="0" y="14141"/>
                    <a:pt x="14141" y="0"/>
                    <a:pt x="31584" y="0"/>
                  </a:cubicBezTo>
                  <a:close/>
                </a:path>
              </a:pathLst>
            </a:custGeom>
            <a:solidFill>
              <a:srgbClr val="F26B0F"/>
            </a:solidFill>
          </p:spPr>
        </p:sp>
        <p:sp>
          <p:nvSpPr>
            <p:cNvPr id="17" name="TextBox 17"/>
            <p:cNvSpPr txBox="1"/>
            <p:nvPr/>
          </p:nvSpPr>
          <p:spPr>
            <a:xfrm>
              <a:off x="0" y="-38100"/>
              <a:ext cx="1807651" cy="647161"/>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2712199" y="2967978"/>
            <a:ext cx="6000178" cy="1355692"/>
          </a:xfrm>
          <a:prstGeom prst="rect">
            <a:avLst/>
          </a:prstGeom>
        </p:spPr>
        <p:txBody>
          <a:bodyPr lIns="0" tIns="0" rIns="0" bIns="0" rtlCol="0" anchor="t">
            <a:spAutoFit/>
          </a:bodyPr>
          <a:lstStyle/>
          <a:p>
            <a:pPr marL="457200" indent="-457200" algn="l">
              <a:lnSpc>
                <a:spcPts val="2659"/>
              </a:lnSpc>
              <a:buAutoNum type="arabicPeriod"/>
            </a:pPr>
            <a:r>
              <a:rPr lang="en-US" sz="1899" b="1" dirty="0">
                <a:solidFill>
                  <a:srgbClr val="FFFFFF"/>
                </a:solidFill>
                <a:latin typeface="Inter"/>
                <a:ea typeface="Inter"/>
                <a:cs typeface="Inter"/>
                <a:sym typeface="Inter"/>
              </a:rPr>
              <a:t>Strengthen Onboarding Process </a:t>
            </a:r>
          </a:p>
          <a:p>
            <a:pPr algn="l">
              <a:lnSpc>
                <a:spcPts val="2659"/>
              </a:lnSpc>
            </a:pPr>
            <a:r>
              <a:rPr lang="en-US" sz="1899" dirty="0">
                <a:solidFill>
                  <a:srgbClr val="FFFFFF"/>
                </a:solidFill>
                <a:latin typeface="Inter"/>
                <a:ea typeface="Inter"/>
                <a:cs typeface="Inter"/>
                <a:sym typeface="Inter"/>
              </a:rPr>
              <a:t>Introduce 30/60/90-day check-ins  and mentors for new hires to reduce the sharp attrition seen in the first year.</a:t>
            </a:r>
          </a:p>
        </p:txBody>
      </p:sp>
      <p:grpSp>
        <p:nvGrpSpPr>
          <p:cNvPr id="19" name="Group 19"/>
          <p:cNvGrpSpPr/>
          <p:nvPr/>
        </p:nvGrpSpPr>
        <p:grpSpPr>
          <a:xfrm>
            <a:off x="10395876" y="2367036"/>
            <a:ext cx="6863424" cy="2312530"/>
            <a:chOff x="0" y="0"/>
            <a:chExt cx="1807651" cy="609061"/>
          </a:xfrm>
        </p:grpSpPr>
        <p:sp>
          <p:nvSpPr>
            <p:cNvPr id="20" name="Freeform 20"/>
            <p:cNvSpPr/>
            <p:nvPr/>
          </p:nvSpPr>
          <p:spPr>
            <a:xfrm>
              <a:off x="0" y="0"/>
              <a:ext cx="1807651" cy="609061"/>
            </a:xfrm>
            <a:custGeom>
              <a:avLst/>
              <a:gdLst/>
              <a:ahLst/>
              <a:cxnLst/>
              <a:rect l="l" t="t" r="r" b="b"/>
              <a:pathLst>
                <a:path w="1807651" h="609061">
                  <a:moveTo>
                    <a:pt x="31584" y="0"/>
                  </a:moveTo>
                  <a:lnTo>
                    <a:pt x="1776067" y="0"/>
                  </a:lnTo>
                  <a:cubicBezTo>
                    <a:pt x="1784443" y="0"/>
                    <a:pt x="1792477" y="3328"/>
                    <a:pt x="1798400" y="9251"/>
                  </a:cubicBezTo>
                  <a:cubicBezTo>
                    <a:pt x="1804323" y="15174"/>
                    <a:pt x="1807651" y="23207"/>
                    <a:pt x="1807651" y="31584"/>
                  </a:cubicBezTo>
                  <a:lnTo>
                    <a:pt x="1807651" y="577478"/>
                  </a:lnTo>
                  <a:cubicBezTo>
                    <a:pt x="1807651" y="585854"/>
                    <a:pt x="1804323" y="593888"/>
                    <a:pt x="1798400" y="599811"/>
                  </a:cubicBezTo>
                  <a:cubicBezTo>
                    <a:pt x="1792477" y="605734"/>
                    <a:pt x="1784443" y="609061"/>
                    <a:pt x="1776067" y="609061"/>
                  </a:cubicBezTo>
                  <a:lnTo>
                    <a:pt x="31584" y="609061"/>
                  </a:lnTo>
                  <a:cubicBezTo>
                    <a:pt x="14141" y="609061"/>
                    <a:pt x="0" y="594921"/>
                    <a:pt x="0" y="577478"/>
                  </a:cubicBezTo>
                  <a:lnTo>
                    <a:pt x="0" y="31584"/>
                  </a:lnTo>
                  <a:cubicBezTo>
                    <a:pt x="0" y="14141"/>
                    <a:pt x="14141" y="0"/>
                    <a:pt x="31584" y="0"/>
                  </a:cubicBezTo>
                  <a:close/>
                </a:path>
              </a:pathLst>
            </a:custGeom>
            <a:solidFill>
              <a:srgbClr val="F26B0F"/>
            </a:solidFill>
          </p:spPr>
        </p:sp>
        <p:sp>
          <p:nvSpPr>
            <p:cNvPr id="21" name="TextBox 21"/>
            <p:cNvSpPr txBox="1"/>
            <p:nvPr/>
          </p:nvSpPr>
          <p:spPr>
            <a:xfrm>
              <a:off x="0" y="-38100"/>
              <a:ext cx="1807651" cy="647161"/>
            </a:xfrm>
            <a:prstGeom prst="rect">
              <a:avLst/>
            </a:prstGeom>
          </p:spPr>
          <p:txBody>
            <a:bodyPr lIns="50800" tIns="50800" rIns="50800" bIns="50800" rtlCol="0" anchor="ctr"/>
            <a:lstStyle/>
            <a:p>
              <a:pPr marL="0" lvl="0" indent="0" algn="ctr">
                <a:lnSpc>
                  <a:spcPts val="2659"/>
                </a:lnSpc>
              </a:pPr>
              <a:endParaRPr/>
            </a:p>
          </p:txBody>
        </p:sp>
      </p:grpSp>
      <p:grpSp>
        <p:nvGrpSpPr>
          <p:cNvPr id="22" name="Group 22"/>
          <p:cNvGrpSpPr/>
          <p:nvPr/>
        </p:nvGrpSpPr>
        <p:grpSpPr>
          <a:xfrm>
            <a:off x="2280576" y="5970492"/>
            <a:ext cx="6863424" cy="2312530"/>
            <a:chOff x="0" y="0"/>
            <a:chExt cx="1807651" cy="609061"/>
          </a:xfrm>
        </p:grpSpPr>
        <p:sp>
          <p:nvSpPr>
            <p:cNvPr id="23" name="Freeform 23"/>
            <p:cNvSpPr/>
            <p:nvPr/>
          </p:nvSpPr>
          <p:spPr>
            <a:xfrm>
              <a:off x="0" y="0"/>
              <a:ext cx="1807651" cy="609061"/>
            </a:xfrm>
            <a:custGeom>
              <a:avLst/>
              <a:gdLst/>
              <a:ahLst/>
              <a:cxnLst/>
              <a:rect l="l" t="t" r="r" b="b"/>
              <a:pathLst>
                <a:path w="1807651" h="609061">
                  <a:moveTo>
                    <a:pt x="31584" y="0"/>
                  </a:moveTo>
                  <a:lnTo>
                    <a:pt x="1776067" y="0"/>
                  </a:lnTo>
                  <a:cubicBezTo>
                    <a:pt x="1784443" y="0"/>
                    <a:pt x="1792477" y="3328"/>
                    <a:pt x="1798400" y="9251"/>
                  </a:cubicBezTo>
                  <a:cubicBezTo>
                    <a:pt x="1804323" y="15174"/>
                    <a:pt x="1807651" y="23207"/>
                    <a:pt x="1807651" y="31584"/>
                  </a:cubicBezTo>
                  <a:lnTo>
                    <a:pt x="1807651" y="577478"/>
                  </a:lnTo>
                  <a:cubicBezTo>
                    <a:pt x="1807651" y="585854"/>
                    <a:pt x="1804323" y="593888"/>
                    <a:pt x="1798400" y="599811"/>
                  </a:cubicBezTo>
                  <a:cubicBezTo>
                    <a:pt x="1792477" y="605734"/>
                    <a:pt x="1784443" y="609061"/>
                    <a:pt x="1776067" y="609061"/>
                  </a:cubicBezTo>
                  <a:lnTo>
                    <a:pt x="31584" y="609061"/>
                  </a:lnTo>
                  <a:cubicBezTo>
                    <a:pt x="14141" y="609061"/>
                    <a:pt x="0" y="594921"/>
                    <a:pt x="0" y="577478"/>
                  </a:cubicBezTo>
                  <a:lnTo>
                    <a:pt x="0" y="31584"/>
                  </a:lnTo>
                  <a:cubicBezTo>
                    <a:pt x="0" y="14141"/>
                    <a:pt x="14141" y="0"/>
                    <a:pt x="31584" y="0"/>
                  </a:cubicBezTo>
                  <a:close/>
                </a:path>
              </a:pathLst>
            </a:custGeom>
            <a:solidFill>
              <a:srgbClr val="F26B0F"/>
            </a:solidFill>
          </p:spPr>
        </p:sp>
        <p:sp>
          <p:nvSpPr>
            <p:cNvPr id="24" name="TextBox 24"/>
            <p:cNvSpPr txBox="1"/>
            <p:nvPr/>
          </p:nvSpPr>
          <p:spPr>
            <a:xfrm>
              <a:off x="0" y="-38100"/>
              <a:ext cx="1807651" cy="647161"/>
            </a:xfrm>
            <a:prstGeom prst="rect">
              <a:avLst/>
            </a:prstGeom>
          </p:spPr>
          <p:txBody>
            <a:bodyPr lIns="50800" tIns="50800" rIns="50800" bIns="50800" rtlCol="0" anchor="ctr"/>
            <a:lstStyle/>
            <a:p>
              <a:pPr marL="0" lvl="0" indent="0" algn="ctr">
                <a:lnSpc>
                  <a:spcPts val="2659"/>
                </a:lnSpc>
              </a:pPr>
              <a:endParaRPr/>
            </a:p>
          </p:txBody>
        </p:sp>
      </p:grpSp>
      <p:grpSp>
        <p:nvGrpSpPr>
          <p:cNvPr id="25" name="Group 25"/>
          <p:cNvGrpSpPr/>
          <p:nvPr/>
        </p:nvGrpSpPr>
        <p:grpSpPr>
          <a:xfrm>
            <a:off x="10312226" y="5970492"/>
            <a:ext cx="6947074" cy="2312530"/>
            <a:chOff x="0" y="0"/>
            <a:chExt cx="1829682" cy="609061"/>
          </a:xfrm>
        </p:grpSpPr>
        <p:sp>
          <p:nvSpPr>
            <p:cNvPr id="26" name="Freeform 26"/>
            <p:cNvSpPr/>
            <p:nvPr/>
          </p:nvSpPr>
          <p:spPr>
            <a:xfrm>
              <a:off x="0" y="0"/>
              <a:ext cx="1829682" cy="609061"/>
            </a:xfrm>
            <a:custGeom>
              <a:avLst/>
              <a:gdLst/>
              <a:ahLst/>
              <a:cxnLst/>
              <a:rect l="l" t="t" r="r" b="b"/>
              <a:pathLst>
                <a:path w="1829682" h="609061">
                  <a:moveTo>
                    <a:pt x="31204" y="0"/>
                  </a:moveTo>
                  <a:lnTo>
                    <a:pt x="1798479" y="0"/>
                  </a:lnTo>
                  <a:cubicBezTo>
                    <a:pt x="1806754" y="0"/>
                    <a:pt x="1814691" y="3288"/>
                    <a:pt x="1820543" y="9139"/>
                  </a:cubicBezTo>
                  <a:cubicBezTo>
                    <a:pt x="1826395" y="14991"/>
                    <a:pt x="1829682" y="22928"/>
                    <a:pt x="1829682" y="31204"/>
                  </a:cubicBezTo>
                  <a:lnTo>
                    <a:pt x="1829682" y="577858"/>
                  </a:lnTo>
                  <a:cubicBezTo>
                    <a:pt x="1829682" y="586134"/>
                    <a:pt x="1826395" y="594070"/>
                    <a:pt x="1820543" y="599922"/>
                  </a:cubicBezTo>
                  <a:cubicBezTo>
                    <a:pt x="1814691" y="605774"/>
                    <a:pt x="1806754" y="609061"/>
                    <a:pt x="1798479" y="609061"/>
                  </a:cubicBezTo>
                  <a:lnTo>
                    <a:pt x="31204" y="609061"/>
                  </a:lnTo>
                  <a:cubicBezTo>
                    <a:pt x="22928" y="609061"/>
                    <a:pt x="14991" y="605774"/>
                    <a:pt x="9139" y="599922"/>
                  </a:cubicBezTo>
                  <a:cubicBezTo>
                    <a:pt x="3288" y="594070"/>
                    <a:pt x="0" y="586134"/>
                    <a:pt x="0" y="577858"/>
                  </a:cubicBezTo>
                  <a:lnTo>
                    <a:pt x="0" y="31204"/>
                  </a:lnTo>
                  <a:cubicBezTo>
                    <a:pt x="0" y="22928"/>
                    <a:pt x="3288" y="14991"/>
                    <a:pt x="9139" y="9139"/>
                  </a:cubicBezTo>
                  <a:cubicBezTo>
                    <a:pt x="14991" y="3288"/>
                    <a:pt x="22928" y="0"/>
                    <a:pt x="31204" y="0"/>
                  </a:cubicBezTo>
                  <a:close/>
                </a:path>
              </a:pathLst>
            </a:custGeom>
            <a:solidFill>
              <a:srgbClr val="F26B0F"/>
            </a:solidFill>
          </p:spPr>
        </p:sp>
        <p:sp>
          <p:nvSpPr>
            <p:cNvPr id="27" name="TextBox 27"/>
            <p:cNvSpPr txBox="1"/>
            <p:nvPr/>
          </p:nvSpPr>
          <p:spPr>
            <a:xfrm>
              <a:off x="0" y="-38100"/>
              <a:ext cx="1829682" cy="647161"/>
            </a:xfrm>
            <a:prstGeom prst="rect">
              <a:avLst/>
            </a:prstGeom>
          </p:spPr>
          <p:txBody>
            <a:bodyPr lIns="50800" tIns="50800" rIns="50800" bIns="50800" rtlCol="0" anchor="ctr"/>
            <a:lstStyle/>
            <a:p>
              <a:pPr marL="0" lvl="0" indent="0" algn="ctr">
                <a:lnSpc>
                  <a:spcPts val="2659"/>
                </a:lnSpc>
              </a:pPr>
              <a:endParaRPr/>
            </a:p>
          </p:txBody>
        </p:sp>
      </p:grpSp>
      <p:sp>
        <p:nvSpPr>
          <p:cNvPr id="28" name="TextBox 28"/>
          <p:cNvSpPr txBox="1"/>
          <p:nvPr/>
        </p:nvSpPr>
        <p:spPr>
          <a:xfrm>
            <a:off x="10719033" y="2967978"/>
            <a:ext cx="6296357" cy="1047659"/>
          </a:xfrm>
          <a:prstGeom prst="rect">
            <a:avLst/>
          </a:prstGeom>
        </p:spPr>
        <p:txBody>
          <a:bodyPr wrap="square" lIns="0" tIns="0" rIns="0" bIns="0" rtlCol="0" anchor="t">
            <a:spAutoFit/>
          </a:bodyPr>
          <a:lstStyle/>
          <a:p>
            <a:pPr algn="l">
              <a:lnSpc>
                <a:spcPts val="2795"/>
              </a:lnSpc>
            </a:pPr>
            <a:r>
              <a:rPr lang="en-US" sz="1996" b="1" dirty="0">
                <a:solidFill>
                  <a:srgbClr val="FFFFFF"/>
                </a:solidFill>
                <a:latin typeface="Inter"/>
                <a:ea typeface="Inter"/>
                <a:cs typeface="Inter"/>
                <a:sym typeface="Inter"/>
              </a:rPr>
              <a:t>2. Improve Entry-Level Pay Benchmark </a:t>
            </a:r>
          </a:p>
          <a:p>
            <a:pPr algn="l">
              <a:lnSpc>
                <a:spcPts val="2795"/>
              </a:lnSpc>
            </a:pPr>
            <a:r>
              <a:rPr lang="en-US" sz="1996" dirty="0">
                <a:solidFill>
                  <a:srgbClr val="FFFFFF"/>
                </a:solidFill>
                <a:latin typeface="Inter"/>
                <a:ea typeface="Inter"/>
                <a:cs typeface="Inter"/>
                <a:sym typeface="Inter"/>
              </a:rPr>
              <a:t>salaries in the lowest pay band against market rates, since low pay is the biggest driver of attrition.</a:t>
            </a:r>
          </a:p>
        </p:txBody>
      </p:sp>
      <p:sp>
        <p:nvSpPr>
          <p:cNvPr id="29" name="TextBox 29"/>
          <p:cNvSpPr txBox="1"/>
          <p:nvPr/>
        </p:nvSpPr>
        <p:spPr>
          <a:xfrm>
            <a:off x="2372311" y="6352651"/>
            <a:ext cx="6679954" cy="1355692"/>
          </a:xfrm>
          <a:prstGeom prst="rect">
            <a:avLst/>
          </a:prstGeom>
        </p:spPr>
        <p:txBody>
          <a:bodyPr lIns="0" tIns="0" rIns="0" bIns="0" rtlCol="0" anchor="t">
            <a:spAutoFit/>
          </a:bodyPr>
          <a:lstStyle/>
          <a:p>
            <a:pPr algn="l">
              <a:lnSpc>
                <a:spcPts val="2659"/>
              </a:lnSpc>
            </a:pPr>
            <a:r>
              <a:rPr lang="en-US" sz="1899" b="1" dirty="0">
                <a:solidFill>
                  <a:srgbClr val="FFFFFF"/>
                </a:solidFill>
                <a:latin typeface="Inter"/>
                <a:ea typeface="Inter"/>
                <a:cs typeface="Inter"/>
                <a:sym typeface="Inter"/>
              </a:rPr>
              <a:t>3. Build Career Growth Plans</a:t>
            </a:r>
          </a:p>
          <a:p>
            <a:pPr algn="l">
              <a:lnSpc>
                <a:spcPts val="2659"/>
              </a:lnSpc>
              <a:spcBef>
                <a:spcPct val="0"/>
              </a:spcBef>
            </a:pPr>
            <a:r>
              <a:rPr lang="en-US" sz="1899" dirty="0">
                <a:solidFill>
                  <a:srgbClr val="FFFFFF"/>
                </a:solidFill>
                <a:latin typeface="Inter"/>
                <a:ea typeface="Inter"/>
                <a:cs typeface="Inter"/>
                <a:sym typeface="Inter"/>
              </a:rPr>
              <a:t>Offer clear promotion timelines and regular growth conversations for young, entry-level employees to keep them motivated and engaged.</a:t>
            </a:r>
          </a:p>
        </p:txBody>
      </p:sp>
      <p:sp>
        <p:nvSpPr>
          <p:cNvPr id="30" name="TextBox 30"/>
          <p:cNvSpPr txBox="1"/>
          <p:nvPr/>
        </p:nvSpPr>
        <p:spPr>
          <a:xfrm>
            <a:off x="10456358" y="6288167"/>
            <a:ext cx="6559032" cy="1355628"/>
          </a:xfrm>
          <a:prstGeom prst="rect">
            <a:avLst/>
          </a:prstGeom>
        </p:spPr>
        <p:txBody>
          <a:bodyPr wrap="square" lIns="0" tIns="0" rIns="0" bIns="0" rtlCol="0" anchor="t">
            <a:spAutoFit/>
          </a:bodyPr>
          <a:lstStyle/>
          <a:p>
            <a:pPr algn="l">
              <a:lnSpc>
                <a:spcPts val="2654"/>
              </a:lnSpc>
            </a:pPr>
            <a:r>
              <a:rPr lang="en-US" sz="1896" b="1" dirty="0">
                <a:solidFill>
                  <a:srgbClr val="FFFFFF"/>
                </a:solidFill>
                <a:latin typeface="Inter"/>
                <a:ea typeface="Inter"/>
                <a:cs typeface="Inter"/>
                <a:sym typeface="Inter"/>
              </a:rPr>
              <a:t>4. Protect Key Talent Pool </a:t>
            </a:r>
          </a:p>
          <a:p>
            <a:pPr algn="l">
              <a:lnSpc>
                <a:spcPts val="2654"/>
              </a:lnSpc>
            </a:pPr>
            <a:r>
              <a:rPr lang="en-US" sz="1896" dirty="0">
                <a:solidFill>
                  <a:srgbClr val="FFFFFF"/>
                </a:solidFill>
                <a:latin typeface="Inter"/>
                <a:ea typeface="Inter"/>
                <a:cs typeface="Inter"/>
                <a:sym typeface="Inter"/>
              </a:rPr>
              <a:t>Create specialized engagement  and development programs for Life Sciences and Medical staff, as they make up the largest share of attrition.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63257"/>
        </a:solidFill>
        <a:effectLst/>
      </p:bgPr>
    </p:bg>
    <p:spTree>
      <p:nvGrpSpPr>
        <p:cNvPr id="1" name=""/>
        <p:cNvGrpSpPr/>
        <p:nvPr/>
      </p:nvGrpSpPr>
      <p:grpSpPr>
        <a:xfrm>
          <a:off x="0" y="0"/>
          <a:ext cx="0" cy="0"/>
          <a:chOff x="0" y="0"/>
          <a:chExt cx="0" cy="0"/>
        </a:xfrm>
      </p:grpSpPr>
      <p:grpSp>
        <p:nvGrpSpPr>
          <p:cNvPr id="2" name="Group 2"/>
          <p:cNvGrpSpPr/>
          <p:nvPr/>
        </p:nvGrpSpPr>
        <p:grpSpPr>
          <a:xfrm>
            <a:off x="-1332519" y="-213607"/>
            <a:ext cx="20556882" cy="10287000"/>
            <a:chOff x="0" y="0"/>
            <a:chExt cx="27409176"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3693176"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a:off x="-2889006" y="9258300"/>
            <a:ext cx="24066013" cy="1630186"/>
            <a:chOff x="0" y="0"/>
            <a:chExt cx="6338374" cy="429349"/>
          </a:xfrm>
        </p:grpSpPr>
        <p:sp>
          <p:nvSpPr>
            <p:cNvPr id="6" name="Freeform 6"/>
            <p:cNvSpPr/>
            <p:nvPr/>
          </p:nvSpPr>
          <p:spPr>
            <a:xfrm>
              <a:off x="0" y="0"/>
              <a:ext cx="6338374" cy="429349"/>
            </a:xfrm>
            <a:custGeom>
              <a:avLst/>
              <a:gdLst/>
              <a:ahLst/>
              <a:cxnLst/>
              <a:rect l="l" t="t" r="r" b="b"/>
              <a:pathLst>
                <a:path w="6338374" h="429349">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id="7" name="TextBox 7"/>
            <p:cNvSpPr txBox="1"/>
            <p:nvPr/>
          </p:nvSpPr>
          <p:spPr>
            <a:xfrm>
              <a:off x="594223" y="2152"/>
              <a:ext cx="5149929" cy="386946"/>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9815178" y="5406374"/>
            <a:ext cx="6450373" cy="665162"/>
            <a:chOff x="0" y="0"/>
            <a:chExt cx="1698864" cy="175187"/>
          </a:xfrm>
        </p:grpSpPr>
        <p:sp>
          <p:nvSpPr>
            <p:cNvPr id="9" name="Freeform 9"/>
            <p:cNvSpPr/>
            <p:nvPr/>
          </p:nvSpPr>
          <p:spPr>
            <a:xfrm>
              <a:off x="0" y="0"/>
              <a:ext cx="1698864" cy="175187"/>
            </a:xfrm>
            <a:custGeom>
              <a:avLst/>
              <a:gdLst/>
              <a:ahLst/>
              <a:cxnLst/>
              <a:rect l="l" t="t" r="r" b="b"/>
              <a:pathLst>
                <a:path w="1698864" h="175187">
                  <a:moveTo>
                    <a:pt x="33606" y="0"/>
                  </a:moveTo>
                  <a:lnTo>
                    <a:pt x="1665257" y="0"/>
                  </a:lnTo>
                  <a:cubicBezTo>
                    <a:pt x="1674170" y="0"/>
                    <a:pt x="1682718" y="3541"/>
                    <a:pt x="1689021" y="9843"/>
                  </a:cubicBezTo>
                  <a:cubicBezTo>
                    <a:pt x="1695323" y="16146"/>
                    <a:pt x="1698864" y="24693"/>
                    <a:pt x="1698864" y="33606"/>
                  </a:cubicBezTo>
                  <a:lnTo>
                    <a:pt x="1698864" y="141580"/>
                  </a:lnTo>
                  <a:cubicBezTo>
                    <a:pt x="1698864" y="150493"/>
                    <a:pt x="1695323" y="159041"/>
                    <a:pt x="1689021" y="165344"/>
                  </a:cubicBezTo>
                  <a:cubicBezTo>
                    <a:pt x="1682718" y="171646"/>
                    <a:pt x="1674170" y="175187"/>
                    <a:pt x="1665257" y="175187"/>
                  </a:cubicBezTo>
                  <a:lnTo>
                    <a:pt x="33606" y="175187"/>
                  </a:lnTo>
                  <a:cubicBezTo>
                    <a:pt x="15046" y="175187"/>
                    <a:pt x="0" y="160141"/>
                    <a:pt x="0" y="141580"/>
                  </a:cubicBezTo>
                  <a:lnTo>
                    <a:pt x="0" y="33606"/>
                  </a:lnTo>
                  <a:cubicBezTo>
                    <a:pt x="0" y="24693"/>
                    <a:pt x="3541" y="16146"/>
                    <a:pt x="9843" y="9843"/>
                  </a:cubicBezTo>
                  <a:cubicBezTo>
                    <a:pt x="16146" y="3541"/>
                    <a:pt x="24693" y="0"/>
                    <a:pt x="33606" y="0"/>
                  </a:cubicBezTo>
                  <a:close/>
                </a:path>
              </a:pathLst>
            </a:custGeom>
            <a:solidFill>
              <a:srgbClr val="F26B0F"/>
            </a:solidFill>
          </p:spPr>
        </p:sp>
        <p:sp>
          <p:nvSpPr>
            <p:cNvPr id="10" name="TextBox 10"/>
            <p:cNvSpPr txBox="1"/>
            <p:nvPr/>
          </p:nvSpPr>
          <p:spPr>
            <a:xfrm>
              <a:off x="0" y="-38100"/>
              <a:ext cx="1698864" cy="213287"/>
            </a:xfrm>
            <a:prstGeom prst="rect">
              <a:avLst/>
            </a:prstGeom>
          </p:spPr>
          <p:txBody>
            <a:bodyPr lIns="50800" tIns="50800" rIns="50800" bIns="50800" rtlCol="0" anchor="ctr"/>
            <a:lstStyle/>
            <a:p>
              <a:pPr marL="0" lvl="0" indent="0" algn="ctr">
                <a:lnSpc>
                  <a:spcPts val="2659"/>
                </a:lnSpc>
              </a:pPr>
              <a:endParaRPr/>
            </a:p>
          </p:txBody>
        </p:sp>
      </p:grpSp>
      <p:sp>
        <p:nvSpPr>
          <p:cNvPr id="11" name="TextBox 11"/>
          <p:cNvSpPr txBox="1"/>
          <p:nvPr/>
        </p:nvSpPr>
        <p:spPr>
          <a:xfrm>
            <a:off x="8945922" y="1181100"/>
            <a:ext cx="9342078" cy="1756260"/>
          </a:xfrm>
          <a:prstGeom prst="rect">
            <a:avLst/>
          </a:prstGeom>
        </p:spPr>
        <p:txBody>
          <a:bodyPr lIns="0" tIns="0" rIns="0" bIns="0" rtlCol="0" anchor="t">
            <a:spAutoFit/>
          </a:bodyPr>
          <a:lstStyle/>
          <a:p>
            <a:pPr marL="0" lvl="0" indent="0" algn="l">
              <a:lnSpc>
                <a:spcPts val="6715"/>
              </a:lnSpc>
            </a:pPr>
            <a:r>
              <a:rPr lang="en-US" sz="6995">
                <a:solidFill>
                  <a:srgbClr val="FFFFFF"/>
                </a:solidFill>
                <a:latin typeface="Lilita One"/>
                <a:ea typeface="Lilita One"/>
                <a:cs typeface="Lilita One"/>
                <a:sym typeface="Lilita One"/>
              </a:rPr>
              <a:t>THANK YOU FOR</a:t>
            </a:r>
          </a:p>
          <a:p>
            <a:pPr marL="0" lvl="0" indent="0" algn="l">
              <a:lnSpc>
                <a:spcPts val="6715"/>
              </a:lnSpc>
            </a:pPr>
            <a:r>
              <a:rPr lang="en-US" sz="6995">
                <a:solidFill>
                  <a:srgbClr val="FFFFFF"/>
                </a:solidFill>
                <a:latin typeface="Lilita One"/>
                <a:ea typeface="Lilita One"/>
                <a:cs typeface="Lilita One"/>
                <a:sym typeface="Lilita One"/>
              </a:rPr>
              <a:t>YOUR ATTENTION</a:t>
            </a:r>
          </a:p>
        </p:txBody>
      </p:sp>
      <p:sp>
        <p:nvSpPr>
          <p:cNvPr id="12" name="TextBox 12"/>
          <p:cNvSpPr txBox="1"/>
          <p:nvPr/>
        </p:nvSpPr>
        <p:spPr>
          <a:xfrm>
            <a:off x="8945922" y="2987081"/>
            <a:ext cx="9342078" cy="1289749"/>
          </a:xfrm>
          <a:prstGeom prst="rect">
            <a:avLst/>
          </a:prstGeom>
        </p:spPr>
        <p:txBody>
          <a:bodyPr lIns="0" tIns="0" rIns="0" bIns="0" rtlCol="0" anchor="t">
            <a:spAutoFit/>
          </a:bodyPr>
          <a:lstStyle/>
          <a:p>
            <a:pPr marL="0" lvl="0" indent="0" algn="l">
              <a:lnSpc>
                <a:spcPts val="5036"/>
              </a:lnSpc>
            </a:pPr>
            <a:r>
              <a:rPr lang="en-US" sz="3597" b="1">
                <a:solidFill>
                  <a:srgbClr val="FFFFFF"/>
                </a:solidFill>
                <a:latin typeface="Poppins Bold"/>
                <a:ea typeface="Poppins Bold"/>
                <a:cs typeface="Poppins Bold"/>
                <a:sym typeface="Poppins Bold"/>
              </a:rPr>
              <a:t>We welcome your questions and</a:t>
            </a:r>
          </a:p>
          <a:p>
            <a:pPr marL="0" lvl="0" indent="0" algn="l">
              <a:lnSpc>
                <a:spcPts val="5036"/>
              </a:lnSpc>
            </a:pPr>
            <a:r>
              <a:rPr lang="en-US" sz="3597" b="1">
                <a:solidFill>
                  <a:srgbClr val="FFFFFF"/>
                </a:solidFill>
                <a:latin typeface="Poppins Bold"/>
                <a:ea typeface="Poppins Bold"/>
                <a:cs typeface="Poppins Bold"/>
                <a:sym typeface="Poppins Bold"/>
              </a:rPr>
              <a:t>further discussion</a:t>
            </a:r>
          </a:p>
        </p:txBody>
      </p:sp>
      <p:sp>
        <p:nvSpPr>
          <p:cNvPr id="13" name="TextBox 13"/>
          <p:cNvSpPr txBox="1"/>
          <p:nvPr/>
        </p:nvSpPr>
        <p:spPr>
          <a:xfrm>
            <a:off x="10066471" y="5484933"/>
            <a:ext cx="8221529" cy="441369"/>
          </a:xfrm>
          <a:prstGeom prst="rect">
            <a:avLst/>
          </a:prstGeom>
        </p:spPr>
        <p:txBody>
          <a:bodyPr lIns="0" tIns="0" rIns="0" bIns="0" rtlCol="0" anchor="t">
            <a:spAutoFit/>
          </a:bodyPr>
          <a:lstStyle/>
          <a:p>
            <a:pPr marL="0" lvl="0" indent="0" algn="just">
              <a:lnSpc>
                <a:spcPts val="3497"/>
              </a:lnSpc>
            </a:pPr>
            <a:r>
              <a:rPr lang="en-US" sz="2498">
                <a:solidFill>
                  <a:srgbClr val="FFFFFF"/>
                </a:solidFill>
                <a:latin typeface="Poppins"/>
                <a:ea typeface="Poppins"/>
                <a:cs typeface="Poppins"/>
                <a:sym typeface="Poppins"/>
              </a:rPr>
              <a:t>IBM HR Analytics Team</a:t>
            </a:r>
          </a:p>
        </p:txBody>
      </p:sp>
      <p:sp>
        <p:nvSpPr>
          <p:cNvPr id="14" name="Freeform 14"/>
          <p:cNvSpPr/>
          <p:nvPr/>
        </p:nvSpPr>
        <p:spPr>
          <a:xfrm>
            <a:off x="15457107" y="2598039"/>
            <a:ext cx="4928621" cy="4663708"/>
          </a:xfrm>
          <a:custGeom>
            <a:avLst/>
            <a:gdLst/>
            <a:ahLst/>
            <a:cxnLst/>
            <a:rect l="l" t="t" r="r" b="b"/>
            <a:pathLst>
              <a:path w="4928621" h="4663708">
                <a:moveTo>
                  <a:pt x="0" y="0"/>
                </a:moveTo>
                <a:lnTo>
                  <a:pt x="4928621" y="0"/>
                </a:lnTo>
                <a:lnTo>
                  <a:pt x="4928621" y="4663708"/>
                </a:lnTo>
                <a:lnTo>
                  <a:pt x="0" y="4663708"/>
                </a:lnTo>
                <a:lnTo>
                  <a:pt x="0" y="0"/>
                </a:lnTo>
                <a:close/>
              </a:path>
            </a:pathLst>
          </a:custGeom>
          <a:blipFill>
            <a:blip r:embed="rId3"/>
            <a:stretch>
              <a:fillRect/>
            </a:stretch>
          </a:blipFill>
        </p:spPr>
      </p:sp>
      <p:sp>
        <p:nvSpPr>
          <p:cNvPr id="15" name="Freeform 15"/>
          <p:cNvSpPr/>
          <p:nvPr/>
        </p:nvSpPr>
        <p:spPr>
          <a:xfrm rot="668331">
            <a:off x="-1067866" y="899442"/>
            <a:ext cx="2787779" cy="5746626"/>
          </a:xfrm>
          <a:custGeom>
            <a:avLst/>
            <a:gdLst/>
            <a:ahLst/>
            <a:cxnLst/>
            <a:rect l="l" t="t" r="r" b="b"/>
            <a:pathLst>
              <a:path w="2787779" h="5746626">
                <a:moveTo>
                  <a:pt x="0" y="0"/>
                </a:moveTo>
                <a:lnTo>
                  <a:pt x="2787779" y="0"/>
                </a:lnTo>
                <a:lnTo>
                  <a:pt x="2787779" y="5746627"/>
                </a:lnTo>
                <a:lnTo>
                  <a:pt x="0" y="574662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Freeform 16"/>
          <p:cNvSpPr/>
          <p:nvPr/>
        </p:nvSpPr>
        <p:spPr>
          <a:xfrm rot="-4435513">
            <a:off x="6637520" y="623906"/>
            <a:ext cx="1338783" cy="1919401"/>
          </a:xfrm>
          <a:custGeom>
            <a:avLst/>
            <a:gdLst/>
            <a:ahLst/>
            <a:cxnLst/>
            <a:rect l="l" t="t" r="r" b="b"/>
            <a:pathLst>
              <a:path w="1338783" h="1919401">
                <a:moveTo>
                  <a:pt x="0" y="0"/>
                </a:moveTo>
                <a:lnTo>
                  <a:pt x="1338783" y="0"/>
                </a:lnTo>
                <a:lnTo>
                  <a:pt x="1338783" y="1919401"/>
                </a:lnTo>
                <a:lnTo>
                  <a:pt x="0" y="191940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7" name="Freeform 17"/>
          <p:cNvSpPr/>
          <p:nvPr/>
        </p:nvSpPr>
        <p:spPr>
          <a:xfrm rot="640807">
            <a:off x="16844331" y="6781439"/>
            <a:ext cx="958101" cy="1373622"/>
          </a:xfrm>
          <a:custGeom>
            <a:avLst/>
            <a:gdLst/>
            <a:ahLst/>
            <a:cxnLst/>
            <a:rect l="l" t="t" r="r" b="b"/>
            <a:pathLst>
              <a:path w="958101" h="1373622">
                <a:moveTo>
                  <a:pt x="0" y="0"/>
                </a:moveTo>
                <a:lnTo>
                  <a:pt x="958101" y="0"/>
                </a:lnTo>
                <a:lnTo>
                  <a:pt x="958101" y="1373622"/>
                </a:lnTo>
                <a:lnTo>
                  <a:pt x="0" y="137362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8" name="Freeform 18"/>
          <p:cNvSpPr/>
          <p:nvPr/>
        </p:nvSpPr>
        <p:spPr>
          <a:xfrm rot="-6490527">
            <a:off x="3161394" y="776991"/>
            <a:ext cx="1125228" cy="1613231"/>
          </a:xfrm>
          <a:custGeom>
            <a:avLst/>
            <a:gdLst/>
            <a:ahLst/>
            <a:cxnLst/>
            <a:rect l="l" t="t" r="r" b="b"/>
            <a:pathLst>
              <a:path w="1125228" h="1613231">
                <a:moveTo>
                  <a:pt x="0" y="0"/>
                </a:moveTo>
                <a:lnTo>
                  <a:pt x="1125228" y="0"/>
                </a:lnTo>
                <a:lnTo>
                  <a:pt x="1125228" y="1613231"/>
                </a:lnTo>
                <a:lnTo>
                  <a:pt x="0" y="161323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9" name="Freeform 19"/>
          <p:cNvSpPr/>
          <p:nvPr/>
        </p:nvSpPr>
        <p:spPr>
          <a:xfrm>
            <a:off x="8589580" y="5484171"/>
            <a:ext cx="712683" cy="509568"/>
          </a:xfrm>
          <a:custGeom>
            <a:avLst/>
            <a:gdLst/>
            <a:ahLst/>
            <a:cxnLst/>
            <a:rect l="l" t="t" r="r" b="b"/>
            <a:pathLst>
              <a:path w="712683" h="509568">
                <a:moveTo>
                  <a:pt x="0" y="0"/>
                </a:moveTo>
                <a:lnTo>
                  <a:pt x="712683" y="0"/>
                </a:lnTo>
                <a:lnTo>
                  <a:pt x="712683" y="509568"/>
                </a:lnTo>
                <a:lnTo>
                  <a:pt x="0" y="509568"/>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930</Words>
  <Application>Microsoft Office PowerPoint</Application>
  <PresentationFormat>Custom</PresentationFormat>
  <Paragraphs>100</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Inter</vt:lpstr>
      <vt:lpstr>Calibri</vt:lpstr>
      <vt:lpstr>Poppins</vt:lpstr>
      <vt:lpstr>Arial</vt:lpstr>
      <vt:lpstr>Lilita One</vt:lpstr>
      <vt:lpstr>Inter Bold</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HR Attrition Analytics Overview</dc:title>
  <dc:creator>Karishma</dc:creator>
  <cp:lastModifiedBy>Karishma</cp:lastModifiedBy>
  <cp:revision>7</cp:revision>
  <dcterms:created xsi:type="dcterms:W3CDTF">2006-08-16T00:00:00Z</dcterms:created>
  <dcterms:modified xsi:type="dcterms:W3CDTF">2026-10-09T09:48:07Z</dcterms:modified>
  <dc:identifier>DAHQwUb-9Vo</dc:identifier>
</cp:coreProperties>
</file>